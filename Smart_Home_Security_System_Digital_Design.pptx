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4324A"/>
          </a:solidFill>
          <a:ln w="12700">
            <a:solidFill>
              <a:srgbClr val="1432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473952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DIGITAL DESIGN &amp; CIRCUIT ANALYSIS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229600" y="6473952"/>
            <a:ext cx="3429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Smart Home Security System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41908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1809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41908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1809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 w="12700">
            <a:solidFill>
              <a:srgbClr val="F6F8F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749040" cy="6858000"/>
          </a:xfrm>
          <a:prstGeom prst="rect">
            <a:avLst/>
          </a:prstGeom>
          <a:solidFill>
            <a:srgbClr val="14324A"/>
          </a:solidFill>
          <a:ln w="12700">
            <a:solidFill>
              <a:srgbClr val="14324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777240"/>
            <a:ext cx="26517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DIGITAL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DESIGN &amp;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CIRCUIT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ANALYSIS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85216" y="2743200"/>
            <a:ext cx="2377440" cy="0"/>
          </a:xfrm>
          <a:prstGeom prst="line">
            <a:avLst/>
          </a:prstGeom>
          <a:noFill/>
          <a:ln w="31750">
            <a:solidFill>
              <a:srgbClr val="2BA8C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3063240"/>
            <a:ext cx="2697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D9EEF6"/>
                </a:solidFill>
              </a:rPr>
              <a:t>ONE-ZONE RULE-BASED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D9EEF6"/>
                </a:solidFill>
              </a:rPr>
              <a:t>SECURITY CLASSIFICATION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343400" y="1234440"/>
            <a:ext cx="6903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432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Design and Simulation of a Smart Home Security System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4370832" y="2423160"/>
            <a:ext cx="6400800" cy="8229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</a:rPr>
              <a:t>A digital-logic-based approach to combining security sensor conditions and classifying situations as Safe, Warning, Intrusion, or Emergency.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370832" y="3657600"/>
            <a:ext cx="1508760" cy="347472"/>
          </a:xfrm>
          <a:prstGeom prst="roundRect">
            <a:avLst>
              <a:gd name="adj" fmla="val 21053"/>
            </a:avLst>
          </a:prstGeom>
          <a:solidFill>
            <a:srgbClr val="EAF3F8"/>
          </a:solidFill>
          <a:ln w="12700">
            <a:solidFill>
              <a:srgbClr val="EAF3F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443984" y="3744468"/>
            <a:ext cx="13624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D5F85"/>
                </a:solidFill>
              </a:rPr>
              <a:t>Logisim Simulation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016752" y="3657600"/>
            <a:ext cx="1691640" cy="347472"/>
          </a:xfrm>
          <a:prstGeom prst="roundRect">
            <a:avLst>
              <a:gd name="adj" fmla="val 21053"/>
            </a:avLst>
          </a:prstGeom>
          <a:solidFill>
            <a:srgbClr val="E9F5EF"/>
          </a:solidFill>
          <a:ln w="12700">
            <a:solidFill>
              <a:srgbClr val="E9F5E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089904" y="3744468"/>
            <a:ext cx="15453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B8064"/>
                </a:solidFill>
              </a:rPr>
              <a:t>AND / OR / NOT Logic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7845552" y="3657600"/>
            <a:ext cx="1691640" cy="347472"/>
          </a:xfrm>
          <a:prstGeom prst="roundRect">
            <a:avLst>
              <a:gd name="adj" fmla="val 21053"/>
            </a:avLst>
          </a:prstGeom>
          <a:solidFill>
            <a:srgbClr val="FFF4DF"/>
          </a:solidFill>
          <a:ln w="12700">
            <a:solidFill>
              <a:srgbClr val="FFF4D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918704" y="3744468"/>
            <a:ext cx="15453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8B5B00"/>
                </a:solidFill>
              </a:rPr>
              <a:t>Single Security Zone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389120" y="4617720"/>
            <a:ext cx="6629400" cy="11430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667085"/>
                </a:solidFill>
              </a:rPr>
              <a:t>Student Names &amp; Roll Numbers: [Name 1 – Roll No.]  |  [Name 2 – Roll No.]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67085"/>
                </a:solidFill>
              </a:rPr>
              <a:t>Guide: [Guide Name]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67085"/>
                </a:solidFill>
              </a:rPr>
              <a:t>Department: [Department Name]  |  [College Name]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67085"/>
                </a:solidFill>
              </a:rPr>
              <a:t>Academic Year: 2026–27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41908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1809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38912"/>
            <a:ext cx="9875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32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2. Introduction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85216" y="905256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</a:rPr>
              <a:t>Background, domain overview, and why the problem matters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9829800" y="475488"/>
            <a:ext cx="1645920" cy="347472"/>
          </a:xfrm>
          <a:prstGeom prst="roundRect">
            <a:avLst>
              <a:gd name="adj" fmla="val 21053"/>
            </a:avLst>
          </a:prstGeom>
          <a:solidFill>
            <a:srgbClr val="EAF3F8"/>
          </a:solidFill>
          <a:ln w="12700">
            <a:solidFill>
              <a:srgbClr val="EAF3F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902952" y="562356"/>
            <a:ext cx="14996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D5F85"/>
                </a:solidFill>
              </a:rPr>
              <a:t>CONTEXT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94360" y="1371600"/>
            <a:ext cx="342900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94360" y="1371600"/>
            <a:ext cx="73152" cy="1828800"/>
          </a:xfrm>
          <a:prstGeom prst="rect">
            <a:avLst/>
          </a:prstGeom>
          <a:solidFill>
            <a:srgbClr val="2BA8C6"/>
          </a:solidFill>
          <a:ln w="12700">
            <a:solidFill>
              <a:srgbClr val="2BA8C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95528" y="1517904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324A"/>
                </a:solidFill>
              </a:rPr>
              <a:t>The real-world setting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95528" y="1847088"/>
            <a:ext cx="3108960" cy="1234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</a:rPr>
              <a:t>A home security zone contains several signals that describe what is happening: door status, motion, forced entry, heat, and whether the system is armed.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389120" y="1371600"/>
            <a:ext cx="342900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389120" y="1371600"/>
            <a:ext cx="73152" cy="1828800"/>
          </a:xfrm>
          <a:prstGeom prst="rect">
            <a:avLst/>
          </a:prstGeom>
          <a:solidFill>
            <a:srgbClr val="E7A33E"/>
          </a:solidFill>
          <a:ln w="12700">
            <a:solidFill>
              <a:srgbClr val="E7A33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90288" y="1517904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324A"/>
                </a:solidFill>
              </a:rPr>
              <a:t>The design challenge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90288" y="1847088"/>
            <a:ext cx="3108960" cy="1234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</a:rPr>
              <a:t>A sensor signal is often ambiguous by itself. The useful question is not just “did a sensor trigger?” but “what situation do these signals describe together?”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183880" y="1371600"/>
            <a:ext cx="342900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183880" y="1371600"/>
            <a:ext cx="73152" cy="1828800"/>
          </a:xfrm>
          <a:prstGeom prst="rect">
            <a:avLst/>
          </a:prstGeom>
          <a:solidFill>
            <a:srgbClr val="3B8064"/>
          </a:solidFill>
          <a:ln w="12700">
            <a:solidFill>
              <a:srgbClr val="3B806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385048" y="1517904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324A"/>
                </a:solidFill>
              </a:rPr>
              <a:t>Our project focus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385048" y="1847088"/>
            <a:ext cx="3108960" cy="1234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</a:rPr>
              <a:t>We implement a small, rule-based decision system in digital logic that turns a combination of binary inputs into a security classification and final alarm condition.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12648" y="370332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324A"/>
                </a:solidFill>
              </a:rPr>
              <a:t>Think of the circuit as a tiny security decision-maker: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731520" y="4343400"/>
            <a:ext cx="141732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04672" y="4553712"/>
            <a:ext cx="12710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324A"/>
                </a:solidFill>
              </a:rPr>
              <a:t>Sensors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148840" y="4663440"/>
            <a:ext cx="594360" cy="0"/>
          </a:xfrm>
          <a:prstGeom prst="line">
            <a:avLst/>
          </a:prstGeom>
          <a:noFill/>
          <a:ln w="25400">
            <a:solidFill>
              <a:srgbClr val="1D5F85"/>
            </a:solidFill>
            <a:prstDash val="solid"/>
            <a:headEnd type="none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2743200" y="4343400"/>
            <a:ext cx="141732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816352" y="4553712"/>
            <a:ext cx="12710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324A"/>
                </a:solidFill>
              </a:rPr>
              <a:t>System state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160520" y="4663440"/>
            <a:ext cx="594360" cy="0"/>
          </a:xfrm>
          <a:prstGeom prst="line">
            <a:avLst/>
          </a:prstGeom>
          <a:noFill/>
          <a:ln w="25400">
            <a:solidFill>
              <a:srgbClr val="1D5F85"/>
            </a:solidFill>
            <a:prstDash val="solid"/>
            <a:headEnd type="none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4754880" y="4343400"/>
            <a:ext cx="141732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28032" y="4553712"/>
            <a:ext cx="12710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324A"/>
                </a:solidFill>
              </a:rPr>
              <a:t>Conditions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172200" y="4663440"/>
            <a:ext cx="594360" cy="0"/>
          </a:xfrm>
          <a:prstGeom prst="line">
            <a:avLst/>
          </a:prstGeom>
          <a:noFill/>
          <a:ln w="25400">
            <a:solidFill>
              <a:srgbClr val="1D5F85"/>
            </a:solidFill>
            <a:prstDash val="solid"/>
            <a:headEnd type="none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6766560" y="4343400"/>
            <a:ext cx="141732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839712" y="4553712"/>
            <a:ext cx="12710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324A"/>
                </a:solidFill>
              </a:rPr>
              <a:t>Situation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8183880" y="4663440"/>
            <a:ext cx="594360" cy="0"/>
          </a:xfrm>
          <a:prstGeom prst="line">
            <a:avLst/>
          </a:prstGeom>
          <a:noFill/>
          <a:ln w="25400">
            <a:solidFill>
              <a:srgbClr val="1D5F85"/>
            </a:solidFill>
            <a:prstDash val="solid"/>
            <a:headEnd type="none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8778240" y="4343400"/>
            <a:ext cx="1417320" cy="640080"/>
          </a:xfrm>
          <a:prstGeom prst="roundRect">
            <a:avLst>
              <a:gd name="adj" fmla="val 11429"/>
            </a:avLst>
          </a:prstGeom>
          <a:solidFill>
            <a:srgbClr val="14324A"/>
          </a:solidFill>
          <a:ln w="12700">
            <a:solidFill>
              <a:srgbClr val="14324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851392" y="4553712"/>
            <a:ext cx="12710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Alarm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749808" y="534924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5F85"/>
                </a:solidFill>
              </a:rPr>
              <a:t>The “smart” part is the rule-based interpretation — not AI or machine learning.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41908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1809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38912"/>
            <a:ext cx="9875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32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3. Problem Statement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85216" y="905256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</a:rPr>
              <a:t>Why a simple sensor-to-alarm rule is not enough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9921240" y="475488"/>
            <a:ext cx="1508760" cy="347472"/>
          </a:xfrm>
          <a:prstGeom prst="roundRect">
            <a:avLst>
              <a:gd name="adj" fmla="val 21053"/>
            </a:avLst>
          </a:prstGeom>
          <a:solidFill>
            <a:srgbClr val="EAF3F8"/>
          </a:solidFill>
          <a:ln w="12700">
            <a:solidFill>
              <a:srgbClr val="EAF3F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994392" y="562356"/>
            <a:ext cx="13624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D5F85"/>
                </a:solidFill>
              </a:rPr>
              <a:t>PROBLEM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21792" y="138988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324A"/>
                </a:solidFill>
              </a:rPr>
              <a:t>Basic idea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21792" y="1783080"/>
            <a:ext cx="3657600" cy="868680"/>
          </a:xfrm>
          <a:prstGeom prst="roundRect">
            <a:avLst>
              <a:gd name="adj" fmla="val 8421"/>
            </a:avLst>
          </a:prstGeom>
          <a:solidFill>
            <a:srgbClr val="FBEAEA"/>
          </a:solidFill>
          <a:ln w="12700">
            <a:solidFill>
              <a:srgbClr val="F0C8C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201168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94747"/>
                </a:solidFill>
              </a:rPr>
              <a:t>Sensor triggered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C94747"/>
                </a:solidFill>
              </a:rPr>
              <a:t>→ immediate alarm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4617720" y="1417320"/>
            <a:ext cx="649224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617720" y="1417320"/>
            <a:ext cx="73152" cy="1737360"/>
          </a:xfrm>
          <a:prstGeom prst="rect">
            <a:avLst/>
          </a:prstGeom>
          <a:solidFill>
            <a:srgbClr val="C94747"/>
          </a:solidFill>
          <a:ln w="12700">
            <a:solidFill>
              <a:srgbClr val="C9474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18888" y="1563624"/>
            <a:ext cx="6172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324A"/>
                </a:solidFill>
              </a:rPr>
              <a:t>Why this can be limiting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818888" y="1892808"/>
            <a:ext cx="6172200" cy="11430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</a:rPr>
              <a:t>• A door opening can be normal activity, not necessarily an intrusion.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</a:rPr>
              <a:t>• Motion alone does not always explain why the motion occurred.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</a:rPr>
              <a:t>• Forced entry and dangerous heat represent different kinds of threats.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</a:rPr>
              <a:t>• Treating every event identically loses useful context.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21792" y="36118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324A"/>
                </a:solidFill>
              </a:rPr>
              <a:t>What the project asks instead: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58368" y="4096512"/>
            <a:ext cx="342900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58368" y="4096512"/>
            <a:ext cx="73152" cy="1554480"/>
          </a:xfrm>
          <a:prstGeom prst="rect">
            <a:avLst/>
          </a:prstGeom>
          <a:solidFill>
            <a:srgbClr val="2BA8C6"/>
          </a:solidFill>
          <a:ln w="12700">
            <a:solidFill>
              <a:srgbClr val="2BA8C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59536" y="4242816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324A"/>
                </a:solidFill>
              </a:rPr>
              <a:t>What happened?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59536" y="4572000"/>
            <a:ext cx="3108960" cy="9601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</a:rPr>
              <a:t>Door / Motion / Forced Entry / Heat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407408" y="4096512"/>
            <a:ext cx="342900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407408" y="4096512"/>
            <a:ext cx="73152" cy="1554480"/>
          </a:xfrm>
          <a:prstGeom prst="rect">
            <a:avLst/>
          </a:prstGeom>
          <a:solidFill>
            <a:srgbClr val="E7A33E"/>
          </a:solidFill>
          <a:ln w="12700">
            <a:solidFill>
              <a:srgbClr val="E7A33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08576" y="4242816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324A"/>
                </a:solidFill>
              </a:rPr>
              <a:t>What is the system state?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608576" y="4572000"/>
            <a:ext cx="3108960" cy="9601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</a:rPr>
              <a:t>Armed or Disarmed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8156448" y="4096512"/>
            <a:ext cx="342900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156448" y="4096512"/>
            <a:ext cx="73152" cy="1554480"/>
          </a:xfrm>
          <a:prstGeom prst="rect">
            <a:avLst/>
          </a:prstGeom>
          <a:solidFill>
            <a:srgbClr val="3B8064"/>
          </a:solidFill>
          <a:ln w="12700">
            <a:solidFill>
              <a:srgbClr val="3B806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357616" y="4242816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324A"/>
                </a:solidFill>
              </a:rPr>
              <a:t>How serious is it?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8357616" y="4572000"/>
            <a:ext cx="3108960" cy="9601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</a:rPr>
              <a:t>Safe / Warning / Intrusion / Emergency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41908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1809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38912"/>
            <a:ext cx="9875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32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4. Objectives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85216" y="905256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</a:rPr>
              <a:t>Specific goals of the project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9372600" y="475488"/>
            <a:ext cx="2057400" cy="347472"/>
          </a:xfrm>
          <a:prstGeom prst="roundRect">
            <a:avLst>
              <a:gd name="adj" fmla="val 21053"/>
            </a:avLst>
          </a:prstGeom>
          <a:solidFill>
            <a:srgbClr val="EAF3F8"/>
          </a:solidFill>
          <a:ln w="12700">
            <a:solidFill>
              <a:srgbClr val="EAF3F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445752" y="562356"/>
            <a:ext cx="19110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D5F85"/>
                </a:solidFill>
              </a:rPr>
              <a:t>OBJECTIVES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21792" y="1417320"/>
            <a:ext cx="342900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04672" y="16002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BA8C6"/>
                </a:solidFill>
              </a:rPr>
              <a:t>01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307592" y="160020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4324A"/>
                </a:solidFill>
              </a:rPr>
              <a:t>Model one security zone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04672" y="2075688"/>
            <a:ext cx="2971800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</a:rPr>
              <a:t>Represent the armed state and four sensor inputs as binary signals.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416552" y="1417320"/>
            <a:ext cx="342900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99432" y="16002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BA8C6"/>
                </a:solidFill>
              </a:rPr>
              <a:t>02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102352" y="160020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4324A"/>
                </a:solidFill>
              </a:rPr>
              <a:t>Classify situations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99432" y="2075688"/>
            <a:ext cx="2971800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</a:rPr>
              <a:t>Distinguish Safe, Warning, Intrusion, and Emergency conditions.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211312" y="1417320"/>
            <a:ext cx="342900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394192" y="16002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BA8C6"/>
                </a:solidFill>
              </a:rPr>
              <a:t>03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8897112" y="160020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4324A"/>
                </a:solidFill>
              </a:rPr>
              <a:t>Use multi-condition logic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394192" y="2075688"/>
            <a:ext cx="2971800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</a:rPr>
              <a:t>Combine sensor states instead of treating every trigger identically.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21792" y="3429000"/>
            <a:ext cx="342900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04672" y="3611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BA8C6"/>
                </a:solidFill>
              </a:rPr>
              <a:t>04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307592" y="361188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4324A"/>
                </a:solidFill>
              </a:rPr>
              <a:t>Implement digitally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04672" y="4087368"/>
            <a:ext cx="2971800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</a:rPr>
              <a:t>Translate the rules into Boolean logic and gates in Logisim.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416552" y="3429000"/>
            <a:ext cx="342900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99432" y="3611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BA8C6"/>
                </a:solidFill>
              </a:rPr>
              <a:t>05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5102352" y="361188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4324A"/>
                </a:solidFill>
              </a:rPr>
              <a:t>Validate behavior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599432" y="4087368"/>
            <a:ext cx="2971800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</a:rPr>
              <a:t>Test representative combinations and verify the resulting outputs.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8211312" y="3429000"/>
            <a:ext cx="342900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394192" y="3611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BA8C6"/>
                </a:solidFill>
              </a:rPr>
              <a:t>06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8897112" y="361188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4324A"/>
                </a:solidFill>
              </a:rPr>
              <a:t>Keep the design extensible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8394192" y="4087368"/>
            <a:ext cx="2971800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</a:rPr>
              <a:t>Show how the same zone logic could later be replicated for multiple zones.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41908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1809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38912"/>
            <a:ext cx="9875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32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5. Literature Survey / Existing System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85216" y="905256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</a:rPr>
              <a:t>Common approaches and the gap addressed by our design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9281160" y="475488"/>
            <a:ext cx="2057400" cy="347472"/>
          </a:xfrm>
          <a:prstGeom prst="roundRect">
            <a:avLst>
              <a:gd name="adj" fmla="val 21053"/>
            </a:avLst>
          </a:prstGeom>
          <a:solidFill>
            <a:srgbClr val="EAF3F8"/>
          </a:solidFill>
          <a:ln w="12700">
            <a:solidFill>
              <a:srgbClr val="EAF3F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354312" y="562356"/>
            <a:ext cx="19110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D5F85"/>
                </a:solidFill>
              </a:rPr>
              <a:t>EXISTING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40080" y="1371600"/>
            <a:ext cx="10927080" cy="502920"/>
          </a:xfrm>
          <a:prstGeom prst="roundRect">
            <a:avLst>
              <a:gd name="adj" fmla="val 7273"/>
            </a:avLst>
          </a:prstGeom>
          <a:solidFill>
            <a:srgbClr val="14324A"/>
          </a:solidFill>
          <a:ln w="12700">
            <a:solidFill>
              <a:srgbClr val="1432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" y="1545336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Approach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749040" y="1545336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Basic idea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452360" y="1545336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Limitation / observation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" y="1938528"/>
            <a:ext cx="10927080" cy="105156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8890">
            <a:solidFill>
              <a:srgbClr val="D9E1E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41248" y="2167128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4324A"/>
                </a:solidFill>
              </a:rPr>
              <a:t>Conventional trigger-based alarm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749040" y="2139696"/>
            <a:ext cx="3200400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</a:rPr>
              <a:t>Individual sensor activation can directly trigger an alarm.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452360" y="2139696"/>
            <a:ext cx="3657600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</a:rPr>
              <a:t>Simple and easy to implement, but context is limited.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40080" y="3218688"/>
            <a:ext cx="10927080" cy="1051560"/>
          </a:xfrm>
          <a:prstGeom prst="roundRect">
            <a:avLst>
              <a:gd name="adj" fmla="val 3478"/>
            </a:avLst>
          </a:prstGeom>
          <a:solidFill>
            <a:srgbClr val="F8FAFC"/>
          </a:solidFill>
          <a:ln w="8890">
            <a:solidFill>
              <a:srgbClr val="D9E1E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41248" y="3447288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4324A"/>
                </a:solidFill>
              </a:rPr>
              <a:t>Zoned security systems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749040" y="3419856"/>
            <a:ext cx="3200400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</a:rPr>
              <a:t>Sensors are grouped by protected areas and monitored by a control panel.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7452360" y="3419856"/>
            <a:ext cx="3657600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</a:rPr>
              <a:t>Better organization, but the decision rules may still be relatively simple.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40080" y="4498848"/>
            <a:ext cx="10927080" cy="105156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8890">
            <a:solidFill>
              <a:srgbClr val="D9E1E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41248" y="4727448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4324A"/>
                </a:solidFill>
              </a:rPr>
              <a:t>Multi-sensor / sensor-fusion approaches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749040" y="4700016"/>
            <a:ext cx="3200400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</a:rPr>
              <a:t>Several measurements are combined to improve situation awareness.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7452360" y="4700016"/>
            <a:ext cx="3657600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</a:rPr>
              <a:t>More informative, but often much more complex than a first-year logic circuit.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58368" y="5897880"/>
            <a:ext cx="10881360" cy="438912"/>
          </a:xfrm>
          <a:prstGeom prst="roundRect">
            <a:avLst>
              <a:gd name="adj" fmla="val 16667"/>
            </a:avLst>
          </a:prstGeom>
          <a:solidFill>
            <a:srgbClr val="EAF3F8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58368" y="5897880"/>
            <a:ext cx="73152" cy="438912"/>
          </a:xfrm>
          <a:prstGeom prst="rect">
            <a:avLst/>
          </a:prstGeom>
          <a:solidFill>
            <a:srgbClr val="2BA8C6"/>
          </a:solidFill>
          <a:ln w="12700">
            <a:solidFill>
              <a:srgbClr val="2BA8C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59536" y="6044184"/>
            <a:ext cx="10561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324A"/>
                </a:solidFill>
              </a:rPr>
              <a:t>Position of our project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859536" y="6373368"/>
            <a:ext cx="10561320" cy="-1554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</a:rPr>
              <a:t>We are not claiming a new commercial security technology; we demonstrate a small, rule-based multi-condition classifier using digital logic.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41908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1809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38912"/>
            <a:ext cx="9875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32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6. Proposed System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85216" y="905256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</a:rPr>
              <a:t>From raw binary inputs to a meaningful security state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9189720" y="475488"/>
            <a:ext cx="2057400" cy="347472"/>
          </a:xfrm>
          <a:prstGeom prst="roundRect">
            <a:avLst>
              <a:gd name="adj" fmla="val 21053"/>
            </a:avLst>
          </a:prstGeom>
          <a:solidFill>
            <a:srgbClr val="EAF3F8"/>
          </a:solidFill>
          <a:ln w="12700">
            <a:solidFill>
              <a:srgbClr val="EAF3F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262872" y="562356"/>
            <a:ext cx="19110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D5F85"/>
                </a:solidFill>
              </a:rPr>
              <a:t>PROPOSED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58368" y="132588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324A"/>
                </a:solidFill>
              </a:rPr>
              <a:t>Inputs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58368" y="1737360"/>
            <a:ext cx="242316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892808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D5F85"/>
                </a:solidFill>
              </a:rPr>
              <a:t>A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234440" y="1883664"/>
            <a:ext cx="16276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</a:rPr>
              <a:t>Armed / Disarmed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58368" y="2450592"/>
            <a:ext cx="242316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2606040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D5F85"/>
                </a:solidFill>
              </a:rPr>
              <a:t>D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234440" y="2596896"/>
            <a:ext cx="16276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</a:rPr>
              <a:t>Door Open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58368" y="3163824"/>
            <a:ext cx="242316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3319272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D5F85"/>
                </a:solidFill>
              </a:rPr>
              <a:t>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234440" y="3310128"/>
            <a:ext cx="16276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</a:rPr>
              <a:t>Motion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58368" y="3877056"/>
            <a:ext cx="242316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4032504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D5F85"/>
                </a:solidFill>
              </a:rPr>
              <a:t>F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234440" y="4023360"/>
            <a:ext cx="16276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</a:rPr>
              <a:t>Forced Entry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58368" y="4590288"/>
            <a:ext cx="242316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2960" y="4745736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D5F85"/>
                </a:solidFill>
              </a:rPr>
              <a:t>H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234440" y="4736592"/>
            <a:ext cx="16276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</a:rPr>
              <a:t>Heat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3657600" y="1481328"/>
            <a:ext cx="3840480" cy="3246120"/>
          </a:xfrm>
          <a:prstGeom prst="roundRect">
            <a:avLst>
              <a:gd name="adj" fmla="val 2817"/>
            </a:avLst>
          </a:prstGeom>
          <a:solidFill>
            <a:srgbClr val="14324A"/>
          </a:solidFill>
          <a:ln w="12700">
            <a:solidFill>
              <a:srgbClr val="14324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114800" y="1938528"/>
            <a:ext cx="2880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RULE-BASED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SECURITY LOGIC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4096512" y="2880360"/>
            <a:ext cx="2926080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DCE8EF"/>
                </a:solidFill>
              </a:rPr>
              <a:t>Combines armed state + sensor conditions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DCE8EF"/>
                </a:solidFill>
              </a:rPr>
              <a:t>to classify the current situation.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4617720" y="3730752"/>
            <a:ext cx="1874520" cy="347472"/>
          </a:xfrm>
          <a:prstGeom prst="roundRect">
            <a:avLst>
              <a:gd name="adj" fmla="val 21053"/>
            </a:avLst>
          </a:prstGeom>
          <a:solidFill>
            <a:srgbClr val="EAF3F8"/>
          </a:solidFill>
          <a:ln w="12700">
            <a:solidFill>
              <a:srgbClr val="EAF3F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690872" y="3817620"/>
            <a:ext cx="17282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D5F85"/>
                </a:solidFill>
              </a:rPr>
              <a:t>AND / OR / NOT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3081528" y="2002536"/>
            <a:ext cx="576072" cy="0"/>
          </a:xfrm>
          <a:prstGeom prst="line">
            <a:avLst/>
          </a:prstGeom>
          <a:noFill/>
          <a:ln w="20320">
            <a:solidFill>
              <a:srgbClr val="1D5F85"/>
            </a:solidFill>
            <a:prstDash val="solid"/>
            <a:headEnd type="none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3081528" y="2715768"/>
            <a:ext cx="576072" cy="-109728"/>
          </a:xfrm>
          <a:prstGeom prst="line">
            <a:avLst/>
          </a:prstGeom>
          <a:noFill/>
          <a:ln w="20320">
            <a:solidFill>
              <a:srgbClr val="1D5F85"/>
            </a:solidFill>
            <a:prstDash val="solid"/>
            <a:headEnd type="none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3081528" y="3429000"/>
            <a:ext cx="576072" cy="-219456"/>
          </a:xfrm>
          <a:prstGeom prst="line">
            <a:avLst/>
          </a:prstGeom>
          <a:noFill/>
          <a:ln w="20320">
            <a:solidFill>
              <a:srgbClr val="1D5F85"/>
            </a:solidFill>
            <a:prstDash val="solid"/>
            <a:headEnd type="none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3081528" y="4142232"/>
            <a:ext cx="576072" cy="-329184"/>
          </a:xfrm>
          <a:prstGeom prst="line">
            <a:avLst/>
          </a:prstGeom>
          <a:noFill/>
          <a:ln w="20320">
            <a:solidFill>
              <a:srgbClr val="1D5F85"/>
            </a:solidFill>
            <a:prstDash val="solid"/>
            <a:headEnd type="none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3081528" y="4855464"/>
            <a:ext cx="576072" cy="-438912"/>
          </a:xfrm>
          <a:prstGeom prst="line">
            <a:avLst/>
          </a:prstGeom>
          <a:noFill/>
          <a:ln w="20320">
            <a:solidFill>
              <a:srgbClr val="1D5F85"/>
            </a:solidFill>
            <a:prstDash val="solid"/>
            <a:headEnd type="none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8001000" y="1216152"/>
            <a:ext cx="3474720" cy="868680"/>
          </a:xfrm>
          <a:prstGeom prst="roundRect">
            <a:avLst>
              <a:gd name="adj" fmla="val 8421"/>
            </a:avLst>
          </a:prstGeom>
          <a:solidFill>
            <a:srgbClr val="E9F5EF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211312" y="1353312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8064"/>
                </a:solidFill>
              </a:rPr>
              <a:t>SAFE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9491472" y="1344168"/>
            <a:ext cx="169164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1F2937"/>
                </a:solidFill>
              </a:rPr>
              <a:t>Routine / no active threat</a:t>
            </a:r>
            <a:endParaRPr lang="en-US" sz="980" dirty="0"/>
          </a:p>
        </p:txBody>
      </p:sp>
      <p:sp>
        <p:nvSpPr>
          <p:cNvPr id="35" name="Shape 33"/>
          <p:cNvSpPr/>
          <p:nvPr/>
        </p:nvSpPr>
        <p:spPr>
          <a:xfrm>
            <a:off x="7498080" y="1645920"/>
            <a:ext cx="502920" cy="0"/>
          </a:xfrm>
          <a:prstGeom prst="line">
            <a:avLst/>
          </a:prstGeom>
          <a:noFill/>
          <a:ln w="20320">
            <a:solidFill>
              <a:srgbClr val="1D5F85"/>
            </a:solidFill>
            <a:prstDash val="solid"/>
            <a:headEnd type="none"/>
            <a:tailEnd type="triangle"/>
          </a:ln>
        </p:spPr>
      </p:sp>
      <p:sp>
        <p:nvSpPr>
          <p:cNvPr id="36" name="Shape 34"/>
          <p:cNvSpPr/>
          <p:nvPr/>
        </p:nvSpPr>
        <p:spPr>
          <a:xfrm>
            <a:off x="8001000" y="2359152"/>
            <a:ext cx="3474720" cy="868680"/>
          </a:xfrm>
          <a:prstGeom prst="roundRect">
            <a:avLst>
              <a:gd name="adj" fmla="val 8421"/>
            </a:avLst>
          </a:prstGeom>
          <a:solidFill>
            <a:srgbClr val="FFF4DF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211312" y="2496312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7A33E"/>
                </a:solidFill>
              </a:rPr>
              <a:t>WARNING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9491472" y="2487168"/>
            <a:ext cx="169164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1F2937"/>
                </a:solidFill>
              </a:rPr>
              <a:t>Relevant event, not yet intrusion</a:t>
            </a:r>
            <a:endParaRPr lang="en-US" sz="980" dirty="0"/>
          </a:p>
        </p:txBody>
      </p:sp>
      <p:sp>
        <p:nvSpPr>
          <p:cNvPr id="39" name="Shape 37"/>
          <p:cNvSpPr/>
          <p:nvPr/>
        </p:nvSpPr>
        <p:spPr>
          <a:xfrm>
            <a:off x="7498080" y="2788920"/>
            <a:ext cx="502920" cy="0"/>
          </a:xfrm>
          <a:prstGeom prst="line">
            <a:avLst/>
          </a:prstGeom>
          <a:noFill/>
          <a:ln w="20320">
            <a:solidFill>
              <a:srgbClr val="1D5F85"/>
            </a:solidFill>
            <a:prstDash val="solid"/>
            <a:headEnd type="none"/>
            <a:tailEnd type="triangle"/>
          </a:ln>
        </p:spPr>
      </p:sp>
      <p:sp>
        <p:nvSpPr>
          <p:cNvPr id="40" name="Shape 38"/>
          <p:cNvSpPr/>
          <p:nvPr/>
        </p:nvSpPr>
        <p:spPr>
          <a:xfrm>
            <a:off x="8001000" y="3502152"/>
            <a:ext cx="3474720" cy="868680"/>
          </a:xfrm>
          <a:prstGeom prst="roundRect">
            <a:avLst>
              <a:gd name="adj" fmla="val 8421"/>
            </a:avLst>
          </a:prstGeom>
          <a:solidFill>
            <a:srgbClr val="FBEAEA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211312" y="3639312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4747"/>
                </a:solidFill>
              </a:rPr>
              <a:t>INTRUSION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9491472" y="3630168"/>
            <a:ext cx="169164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1F2937"/>
                </a:solidFill>
              </a:rPr>
              <a:t>Strong evidence of unauthorized entry</a:t>
            </a:r>
            <a:endParaRPr lang="en-US" sz="980" dirty="0"/>
          </a:p>
        </p:txBody>
      </p:sp>
      <p:sp>
        <p:nvSpPr>
          <p:cNvPr id="43" name="Shape 41"/>
          <p:cNvSpPr/>
          <p:nvPr/>
        </p:nvSpPr>
        <p:spPr>
          <a:xfrm>
            <a:off x="7498080" y="3931920"/>
            <a:ext cx="502920" cy="0"/>
          </a:xfrm>
          <a:prstGeom prst="line">
            <a:avLst/>
          </a:prstGeom>
          <a:noFill/>
          <a:ln w="20320">
            <a:solidFill>
              <a:srgbClr val="1D5F85"/>
            </a:solidFill>
            <a:prstDash val="solid"/>
            <a:headEnd type="none"/>
            <a:tailEnd type="triangle"/>
          </a:ln>
        </p:spPr>
      </p:sp>
      <p:sp>
        <p:nvSpPr>
          <p:cNvPr id="44" name="Shape 42"/>
          <p:cNvSpPr/>
          <p:nvPr/>
        </p:nvSpPr>
        <p:spPr>
          <a:xfrm>
            <a:off x="8001000" y="4645152"/>
            <a:ext cx="3474720" cy="868680"/>
          </a:xfrm>
          <a:prstGeom prst="roundRect">
            <a:avLst>
              <a:gd name="adj" fmla="val 8421"/>
            </a:avLst>
          </a:prstGeom>
          <a:solidFill>
            <a:srgbClr val="EAF3F8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8211312" y="4782312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324A"/>
                </a:solidFill>
              </a:rPr>
              <a:t>EMERGENCY</a:t>
            </a:r>
            <a:endParaRPr lang="en-US" sz="1300" dirty="0"/>
          </a:p>
        </p:txBody>
      </p:sp>
      <p:sp>
        <p:nvSpPr>
          <p:cNvPr id="46" name="Text 44"/>
          <p:cNvSpPr/>
          <p:nvPr/>
        </p:nvSpPr>
        <p:spPr>
          <a:xfrm>
            <a:off x="9491472" y="4773168"/>
            <a:ext cx="169164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1F2937"/>
                </a:solidFill>
              </a:rPr>
              <a:t>Heat-related emergency condition</a:t>
            </a:r>
            <a:endParaRPr lang="en-US" sz="980" dirty="0"/>
          </a:p>
        </p:txBody>
      </p:sp>
      <p:sp>
        <p:nvSpPr>
          <p:cNvPr id="47" name="Shape 45"/>
          <p:cNvSpPr/>
          <p:nvPr/>
        </p:nvSpPr>
        <p:spPr>
          <a:xfrm>
            <a:off x="7498080" y="5074920"/>
            <a:ext cx="502920" cy="0"/>
          </a:xfrm>
          <a:prstGeom prst="line">
            <a:avLst/>
          </a:prstGeom>
          <a:noFill/>
          <a:ln w="20320">
            <a:solidFill>
              <a:srgbClr val="1D5F85"/>
            </a:solidFill>
            <a:prstDash val="solid"/>
            <a:headEnd type="none"/>
            <a:tailEnd type="triangle"/>
          </a:ln>
        </p:spPr>
      </p:sp>
      <p:sp>
        <p:nvSpPr>
          <p:cNvPr id="48" name="Text 46"/>
          <p:cNvSpPr/>
          <p:nvPr/>
        </p:nvSpPr>
        <p:spPr>
          <a:xfrm>
            <a:off x="8183880" y="580644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667085"/>
                </a:solidFill>
              </a:rPr>
              <a:t>Final alarm condition is derived from the applicable higher-severity security state.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41908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1809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38912"/>
            <a:ext cx="9875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32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7. System Architecture / Block Diagram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85216" y="905256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</a:rPr>
              <a:t>Signal flow for one security zone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9052560" y="475488"/>
            <a:ext cx="2194560" cy="347472"/>
          </a:xfrm>
          <a:prstGeom prst="roundRect">
            <a:avLst>
              <a:gd name="adj" fmla="val 21053"/>
            </a:avLst>
          </a:prstGeom>
          <a:solidFill>
            <a:srgbClr val="EAF3F8"/>
          </a:solidFill>
          <a:ln w="12700">
            <a:solidFill>
              <a:srgbClr val="EAF3F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25712" y="562356"/>
            <a:ext cx="20482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D5F85"/>
                </a:solidFill>
              </a:rPr>
              <a:t>ARCHITECTURE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85800" y="12344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324A"/>
                </a:solidFill>
              </a:rPr>
              <a:t>Zone Inputs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58368" y="1737360"/>
            <a:ext cx="214884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86384" y="1837944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D5F85"/>
                </a:solidFill>
              </a:rPr>
              <a:t>ARMED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1682496" y="1856232"/>
            <a:ext cx="9601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67085"/>
                </a:solidFill>
              </a:rPr>
              <a:t>System state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816352" y="2020824"/>
            <a:ext cx="886968" cy="1636776"/>
          </a:xfrm>
          <a:prstGeom prst="line">
            <a:avLst/>
          </a:prstGeom>
          <a:noFill/>
          <a:ln w="16510">
            <a:solidFill>
              <a:srgbClr val="1D5F85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658368" y="2514600"/>
            <a:ext cx="214884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86384" y="2615184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2BA8C6"/>
                </a:solidFill>
              </a:rPr>
              <a:t>DOOR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1682496" y="2633472"/>
            <a:ext cx="9601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67085"/>
                </a:solidFill>
              </a:rPr>
              <a:t>Door sensor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816352" y="2798064"/>
            <a:ext cx="886968" cy="859536"/>
          </a:xfrm>
          <a:prstGeom prst="line">
            <a:avLst/>
          </a:prstGeom>
          <a:noFill/>
          <a:ln w="16510">
            <a:solidFill>
              <a:srgbClr val="1D5F85"/>
            </a:solidFill>
            <a:prstDash val="solid"/>
            <a:headEnd type="non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658368" y="3291840"/>
            <a:ext cx="214884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86384" y="3392424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2BA8C6"/>
                </a:solidFill>
              </a:rPr>
              <a:t>MOTION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1682496" y="3410712"/>
            <a:ext cx="9601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67085"/>
                </a:solidFill>
              </a:rPr>
              <a:t>Motion sensor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2816352" y="3575304"/>
            <a:ext cx="886968" cy="82296"/>
          </a:xfrm>
          <a:prstGeom prst="line">
            <a:avLst/>
          </a:prstGeom>
          <a:noFill/>
          <a:ln w="16510">
            <a:solidFill>
              <a:srgbClr val="1D5F85"/>
            </a:solidFill>
            <a:prstDash val="solid"/>
            <a:headEnd type="none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658368" y="4069080"/>
            <a:ext cx="214884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86384" y="4169664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C94747"/>
                </a:solidFill>
              </a:rPr>
              <a:t>FORCED ENTRY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1682496" y="4187952"/>
            <a:ext cx="9601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67085"/>
                </a:solidFill>
              </a:rPr>
              <a:t>Intrusion sensor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2816352" y="4352544"/>
            <a:ext cx="886968" cy="-694944"/>
          </a:xfrm>
          <a:prstGeom prst="line">
            <a:avLst/>
          </a:prstGeom>
          <a:noFill/>
          <a:ln w="16510">
            <a:solidFill>
              <a:srgbClr val="1D5F85"/>
            </a:solidFill>
            <a:prstDash val="solid"/>
            <a:headEnd type="none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658368" y="4846320"/>
            <a:ext cx="214884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86384" y="4946904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E7A33E"/>
                </a:solidFill>
              </a:rPr>
              <a:t>HEAT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1682496" y="4965192"/>
            <a:ext cx="9601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67085"/>
                </a:solidFill>
              </a:rPr>
              <a:t>Heat sensor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2816352" y="5129784"/>
            <a:ext cx="886968" cy="-1472184"/>
          </a:xfrm>
          <a:prstGeom prst="line">
            <a:avLst/>
          </a:prstGeom>
          <a:noFill/>
          <a:ln w="16510">
            <a:solidFill>
              <a:srgbClr val="1D5F85"/>
            </a:solidFill>
            <a:prstDash val="solid"/>
            <a:headEnd type="none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3703320" y="1920240"/>
            <a:ext cx="3657600" cy="34290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6510">
            <a:solidFill>
              <a:srgbClr val="D9E1E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087368" y="2212848"/>
            <a:ext cx="2880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4324A"/>
                </a:solidFill>
              </a:rPr>
              <a:t>Condition &amp; State Logic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4114800" y="2788920"/>
            <a:ext cx="2834640" cy="393192"/>
          </a:xfrm>
          <a:prstGeom prst="roundRect">
            <a:avLst>
              <a:gd name="adj" fmla="val 9302"/>
            </a:avLst>
          </a:prstGeom>
          <a:solidFill>
            <a:srgbClr val="FFF4DF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224528" y="2889504"/>
            <a:ext cx="107899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8B5B00"/>
                </a:solidFill>
              </a:rPr>
              <a:t>Warning path</a:t>
            </a:r>
            <a:endParaRPr lang="en-US" sz="880" dirty="0"/>
          </a:p>
        </p:txBody>
      </p:sp>
      <p:sp>
        <p:nvSpPr>
          <p:cNvPr id="31" name="Text 29"/>
          <p:cNvSpPr/>
          <p:nvPr/>
        </p:nvSpPr>
        <p:spPr>
          <a:xfrm>
            <a:off x="5248656" y="2880360"/>
            <a:ext cx="1554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F2937"/>
                </a:solidFill>
              </a:rPr>
              <a:t>Armed + Door Open</a:t>
            </a:r>
            <a:endParaRPr lang="en-US" sz="920" dirty="0"/>
          </a:p>
        </p:txBody>
      </p:sp>
      <p:sp>
        <p:nvSpPr>
          <p:cNvPr id="32" name="Shape 30"/>
          <p:cNvSpPr/>
          <p:nvPr/>
        </p:nvSpPr>
        <p:spPr>
          <a:xfrm>
            <a:off x="4114800" y="3346704"/>
            <a:ext cx="2834640" cy="393192"/>
          </a:xfrm>
          <a:prstGeom prst="roundRect">
            <a:avLst>
              <a:gd name="adj" fmla="val 9302"/>
            </a:avLst>
          </a:prstGeom>
          <a:solidFill>
            <a:srgbClr val="FBEAEA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224528" y="3447288"/>
            <a:ext cx="107899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C94747"/>
                </a:solidFill>
              </a:rPr>
              <a:t>Intrusion path</a:t>
            </a:r>
            <a:endParaRPr lang="en-US" sz="880" dirty="0"/>
          </a:p>
        </p:txBody>
      </p:sp>
      <p:sp>
        <p:nvSpPr>
          <p:cNvPr id="34" name="Text 32"/>
          <p:cNvSpPr/>
          <p:nvPr/>
        </p:nvSpPr>
        <p:spPr>
          <a:xfrm>
            <a:off x="5248656" y="3438144"/>
            <a:ext cx="1554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F2937"/>
                </a:solidFill>
              </a:rPr>
              <a:t>Armed + Door + Motion</a:t>
            </a:r>
            <a:endParaRPr lang="en-US" sz="920" dirty="0"/>
          </a:p>
        </p:txBody>
      </p:sp>
      <p:sp>
        <p:nvSpPr>
          <p:cNvPr id="35" name="Shape 33"/>
          <p:cNvSpPr/>
          <p:nvPr/>
        </p:nvSpPr>
        <p:spPr>
          <a:xfrm>
            <a:off x="4114800" y="3904488"/>
            <a:ext cx="2834640" cy="393192"/>
          </a:xfrm>
          <a:prstGeom prst="roundRect">
            <a:avLst>
              <a:gd name="adj" fmla="val 9302"/>
            </a:avLst>
          </a:prstGeom>
          <a:solidFill>
            <a:srgbClr val="FBEAEA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224528" y="4005072"/>
            <a:ext cx="107899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C94747"/>
                </a:solidFill>
              </a:rPr>
              <a:t>Intrusion path</a:t>
            </a:r>
            <a:endParaRPr lang="en-US" sz="880" dirty="0"/>
          </a:p>
        </p:txBody>
      </p:sp>
      <p:sp>
        <p:nvSpPr>
          <p:cNvPr id="37" name="Text 35"/>
          <p:cNvSpPr/>
          <p:nvPr/>
        </p:nvSpPr>
        <p:spPr>
          <a:xfrm>
            <a:off x="5248656" y="3995928"/>
            <a:ext cx="1554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F2937"/>
                </a:solidFill>
              </a:rPr>
              <a:t>Forced Entry</a:t>
            </a:r>
            <a:endParaRPr lang="en-US" sz="920" dirty="0"/>
          </a:p>
        </p:txBody>
      </p:sp>
      <p:sp>
        <p:nvSpPr>
          <p:cNvPr id="38" name="Shape 36"/>
          <p:cNvSpPr/>
          <p:nvPr/>
        </p:nvSpPr>
        <p:spPr>
          <a:xfrm>
            <a:off x="4114800" y="4462272"/>
            <a:ext cx="2834640" cy="393192"/>
          </a:xfrm>
          <a:prstGeom prst="roundRect">
            <a:avLst>
              <a:gd name="adj" fmla="val 9302"/>
            </a:avLst>
          </a:prstGeom>
          <a:solidFill>
            <a:srgbClr val="EAF3F8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224528" y="4562856"/>
            <a:ext cx="107899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1D5F85"/>
                </a:solidFill>
              </a:rPr>
              <a:t>Emergency path</a:t>
            </a:r>
            <a:endParaRPr lang="en-US" sz="880" dirty="0"/>
          </a:p>
        </p:txBody>
      </p:sp>
      <p:sp>
        <p:nvSpPr>
          <p:cNvPr id="40" name="Text 38"/>
          <p:cNvSpPr/>
          <p:nvPr/>
        </p:nvSpPr>
        <p:spPr>
          <a:xfrm>
            <a:off x="5248656" y="4553712"/>
            <a:ext cx="1554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F2937"/>
                </a:solidFill>
              </a:rPr>
              <a:t>Heat condition</a:t>
            </a:r>
            <a:endParaRPr lang="en-US" sz="920" dirty="0"/>
          </a:p>
        </p:txBody>
      </p:sp>
      <p:sp>
        <p:nvSpPr>
          <p:cNvPr id="41" name="Text 39"/>
          <p:cNvSpPr/>
          <p:nvPr/>
        </p:nvSpPr>
        <p:spPr>
          <a:xfrm>
            <a:off x="4096512" y="4572000"/>
            <a:ext cx="283464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20" dirty="0">
                <a:solidFill>
                  <a:srgbClr val="667085"/>
                </a:solidFill>
              </a:rPr>
              <a:t>Boolean gates implement the conditions above; the classification logic then feeds the alarm output.</a:t>
            </a:r>
            <a:endParaRPr lang="en-US" sz="1020" dirty="0"/>
          </a:p>
        </p:txBody>
      </p:sp>
      <p:sp>
        <p:nvSpPr>
          <p:cNvPr id="42" name="Shape 40"/>
          <p:cNvSpPr/>
          <p:nvPr/>
        </p:nvSpPr>
        <p:spPr>
          <a:xfrm>
            <a:off x="8412480" y="1965960"/>
            <a:ext cx="2788920" cy="640080"/>
          </a:xfrm>
          <a:prstGeom prst="roundRect">
            <a:avLst>
              <a:gd name="adj" fmla="val 8571"/>
            </a:avLst>
          </a:prstGeom>
          <a:solidFill>
            <a:srgbClr val="E9F5EF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641080" y="2167128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B8064"/>
                </a:solidFill>
              </a:rPr>
              <a:t>SAFE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10021824" y="2176272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70" dirty="0">
                <a:solidFill>
                  <a:srgbClr val="667085"/>
                </a:solidFill>
              </a:rPr>
              <a:t>State output</a:t>
            </a:r>
            <a:endParaRPr lang="en-US" sz="870" dirty="0"/>
          </a:p>
        </p:txBody>
      </p:sp>
      <p:sp>
        <p:nvSpPr>
          <p:cNvPr id="45" name="Shape 43"/>
          <p:cNvSpPr/>
          <p:nvPr/>
        </p:nvSpPr>
        <p:spPr>
          <a:xfrm>
            <a:off x="7360920" y="2286000"/>
            <a:ext cx="1051560" cy="0"/>
          </a:xfrm>
          <a:prstGeom prst="line">
            <a:avLst/>
          </a:prstGeom>
          <a:noFill/>
          <a:ln w="20320">
            <a:solidFill>
              <a:srgbClr val="1D5F85"/>
            </a:solidFill>
            <a:prstDash val="solid"/>
            <a:headEnd type="none"/>
            <a:tailEnd type="triangle"/>
          </a:ln>
        </p:spPr>
      </p:sp>
      <p:sp>
        <p:nvSpPr>
          <p:cNvPr id="46" name="Shape 44"/>
          <p:cNvSpPr/>
          <p:nvPr/>
        </p:nvSpPr>
        <p:spPr>
          <a:xfrm>
            <a:off x="8412480" y="2907792"/>
            <a:ext cx="2788920" cy="640080"/>
          </a:xfrm>
          <a:prstGeom prst="roundRect">
            <a:avLst>
              <a:gd name="adj" fmla="val 8571"/>
            </a:avLst>
          </a:prstGeom>
          <a:solidFill>
            <a:srgbClr val="FFF4DF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8641080" y="3108960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5B00"/>
                </a:solidFill>
              </a:rPr>
              <a:t>WARNING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10021824" y="3118104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70" dirty="0">
                <a:solidFill>
                  <a:srgbClr val="667085"/>
                </a:solidFill>
              </a:rPr>
              <a:t>State output</a:t>
            </a:r>
            <a:endParaRPr lang="en-US" sz="870" dirty="0"/>
          </a:p>
        </p:txBody>
      </p:sp>
      <p:sp>
        <p:nvSpPr>
          <p:cNvPr id="49" name="Shape 47"/>
          <p:cNvSpPr/>
          <p:nvPr/>
        </p:nvSpPr>
        <p:spPr>
          <a:xfrm>
            <a:off x="7360920" y="3227832"/>
            <a:ext cx="1051560" cy="0"/>
          </a:xfrm>
          <a:prstGeom prst="line">
            <a:avLst/>
          </a:prstGeom>
          <a:noFill/>
          <a:ln w="20320">
            <a:solidFill>
              <a:srgbClr val="1D5F85"/>
            </a:solidFill>
            <a:prstDash val="solid"/>
            <a:headEnd type="none"/>
            <a:tailEnd type="triangle"/>
          </a:ln>
        </p:spPr>
      </p:sp>
      <p:sp>
        <p:nvSpPr>
          <p:cNvPr id="50" name="Shape 48"/>
          <p:cNvSpPr/>
          <p:nvPr/>
        </p:nvSpPr>
        <p:spPr>
          <a:xfrm>
            <a:off x="8412480" y="3849624"/>
            <a:ext cx="2788920" cy="640080"/>
          </a:xfrm>
          <a:prstGeom prst="roundRect">
            <a:avLst>
              <a:gd name="adj" fmla="val 8571"/>
            </a:avLst>
          </a:prstGeom>
          <a:solidFill>
            <a:srgbClr val="FBEAEA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8641080" y="4050792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4747"/>
                </a:solidFill>
              </a:rPr>
              <a:t>INTRUSION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10021824" y="4059936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70" dirty="0">
                <a:solidFill>
                  <a:srgbClr val="667085"/>
                </a:solidFill>
              </a:rPr>
              <a:t>State output</a:t>
            </a:r>
            <a:endParaRPr lang="en-US" sz="870" dirty="0"/>
          </a:p>
        </p:txBody>
      </p:sp>
      <p:sp>
        <p:nvSpPr>
          <p:cNvPr id="53" name="Shape 51"/>
          <p:cNvSpPr/>
          <p:nvPr/>
        </p:nvSpPr>
        <p:spPr>
          <a:xfrm>
            <a:off x="7360920" y="4169664"/>
            <a:ext cx="1051560" cy="0"/>
          </a:xfrm>
          <a:prstGeom prst="line">
            <a:avLst/>
          </a:prstGeom>
          <a:noFill/>
          <a:ln w="20320">
            <a:solidFill>
              <a:srgbClr val="1D5F85"/>
            </a:solidFill>
            <a:prstDash val="solid"/>
            <a:headEnd type="none"/>
            <a:tailEnd type="triangle"/>
          </a:ln>
        </p:spPr>
      </p:sp>
      <p:sp>
        <p:nvSpPr>
          <p:cNvPr id="54" name="Shape 52"/>
          <p:cNvSpPr/>
          <p:nvPr/>
        </p:nvSpPr>
        <p:spPr>
          <a:xfrm>
            <a:off x="8412480" y="4791456"/>
            <a:ext cx="2788920" cy="640080"/>
          </a:xfrm>
          <a:prstGeom prst="roundRect">
            <a:avLst>
              <a:gd name="adj" fmla="val 8571"/>
            </a:avLst>
          </a:prstGeom>
          <a:solidFill>
            <a:srgbClr val="EAF3F8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8641080" y="4992624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D5F85"/>
                </a:solidFill>
              </a:rPr>
              <a:t>EMERGENCY</a:t>
            </a:r>
            <a:endParaRPr lang="en-US" sz="1200" dirty="0"/>
          </a:p>
        </p:txBody>
      </p:sp>
      <p:sp>
        <p:nvSpPr>
          <p:cNvPr id="56" name="Text 54"/>
          <p:cNvSpPr/>
          <p:nvPr/>
        </p:nvSpPr>
        <p:spPr>
          <a:xfrm>
            <a:off x="10021824" y="5001768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70" dirty="0">
                <a:solidFill>
                  <a:srgbClr val="667085"/>
                </a:solidFill>
              </a:rPr>
              <a:t>State output</a:t>
            </a:r>
            <a:endParaRPr lang="en-US" sz="870" dirty="0"/>
          </a:p>
        </p:txBody>
      </p:sp>
      <p:sp>
        <p:nvSpPr>
          <p:cNvPr id="57" name="Shape 55"/>
          <p:cNvSpPr/>
          <p:nvPr/>
        </p:nvSpPr>
        <p:spPr>
          <a:xfrm>
            <a:off x="7360920" y="5111496"/>
            <a:ext cx="1051560" cy="0"/>
          </a:xfrm>
          <a:prstGeom prst="line">
            <a:avLst/>
          </a:prstGeom>
          <a:noFill/>
          <a:ln w="20320">
            <a:solidFill>
              <a:srgbClr val="1D5F85"/>
            </a:solidFill>
            <a:prstDash val="solid"/>
            <a:headEnd type="none"/>
            <a:tailEnd type="triangle"/>
          </a:ln>
        </p:spPr>
      </p:sp>
      <p:sp>
        <p:nvSpPr>
          <p:cNvPr id="58" name="Shape 56"/>
          <p:cNvSpPr/>
          <p:nvPr/>
        </p:nvSpPr>
        <p:spPr>
          <a:xfrm>
            <a:off x="8732520" y="5669280"/>
            <a:ext cx="2194560" cy="475488"/>
          </a:xfrm>
          <a:prstGeom prst="roundRect">
            <a:avLst>
              <a:gd name="adj" fmla="val 9615"/>
            </a:avLst>
          </a:prstGeom>
          <a:solidFill>
            <a:srgbClr val="14324A"/>
          </a:solidFill>
          <a:ln w="12700">
            <a:solidFill>
              <a:srgbClr val="14324A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8887968" y="5815584"/>
            <a:ext cx="18745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FINAL ALARM</a:t>
            </a:r>
            <a:endParaRPr lang="en-US" sz="1100" dirty="0"/>
          </a:p>
        </p:txBody>
      </p:sp>
      <p:sp>
        <p:nvSpPr>
          <p:cNvPr id="60" name="Shape 58"/>
          <p:cNvSpPr/>
          <p:nvPr/>
        </p:nvSpPr>
        <p:spPr>
          <a:xfrm>
            <a:off x="9848088" y="5431536"/>
            <a:ext cx="0" cy="237744"/>
          </a:xfrm>
          <a:prstGeom prst="line">
            <a:avLst/>
          </a:prstGeom>
          <a:noFill/>
          <a:ln w="19050">
            <a:solidFill>
              <a:srgbClr val="14324A"/>
            </a:solidFill>
            <a:prstDash val="solid"/>
            <a:headEnd type="none"/>
            <a:tailEnd type="triangle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41908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1809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38912"/>
            <a:ext cx="9875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32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8. Methodology / Implementation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85216" y="905256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</a:rPr>
              <a:t>How the real-world requirement becomes a digital circuit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9646920" y="475488"/>
            <a:ext cx="1645920" cy="347472"/>
          </a:xfrm>
          <a:prstGeom prst="roundRect">
            <a:avLst>
              <a:gd name="adj" fmla="val 21053"/>
            </a:avLst>
          </a:prstGeom>
          <a:solidFill>
            <a:srgbClr val="EAF3F8"/>
          </a:solidFill>
          <a:ln w="12700">
            <a:solidFill>
              <a:srgbClr val="EAF3F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720072" y="562356"/>
            <a:ext cx="14996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D5F85"/>
                </a:solidFill>
              </a:rPr>
              <a:t>METHOD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58368" y="1307592"/>
            <a:ext cx="393192" cy="393192"/>
          </a:xfrm>
          <a:prstGeom prst="ellipse">
            <a:avLst/>
          </a:prstGeom>
          <a:solidFill>
            <a:srgbClr val="14324A"/>
          </a:solidFill>
          <a:ln w="12700">
            <a:solidFill>
              <a:srgbClr val="1432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1408176"/>
            <a:ext cx="3931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261872" y="1307592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324A"/>
                </a:solidFill>
              </a:rPr>
              <a:t>Define inputs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3703320" y="1298448"/>
            <a:ext cx="722376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</a:rPr>
              <a:t>Armed, Door, Motion, Forced Entry, Heat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859536" y="1709928"/>
            <a:ext cx="0" cy="356616"/>
          </a:xfrm>
          <a:prstGeom prst="line">
            <a:avLst/>
          </a:prstGeom>
          <a:noFill/>
          <a:ln w="17780">
            <a:solidFill>
              <a:srgbClr val="D9E1E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58368" y="2057400"/>
            <a:ext cx="393192" cy="393192"/>
          </a:xfrm>
          <a:prstGeom prst="ellipse">
            <a:avLst/>
          </a:prstGeom>
          <a:solidFill>
            <a:srgbClr val="14324A"/>
          </a:solidFill>
          <a:ln w="12700">
            <a:solidFill>
              <a:srgbClr val="1432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8368" y="2157984"/>
            <a:ext cx="3931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261872" y="2057400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324A"/>
                </a:solidFill>
              </a:rPr>
              <a:t>Define states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3703320" y="2048256"/>
            <a:ext cx="722376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</a:rPr>
              <a:t>Safe, Warning, Intrusion, Emergency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59536" y="2459736"/>
            <a:ext cx="0" cy="356616"/>
          </a:xfrm>
          <a:prstGeom prst="line">
            <a:avLst/>
          </a:prstGeom>
          <a:noFill/>
          <a:ln w="17780">
            <a:solidFill>
              <a:srgbClr val="D9E1E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58368" y="2807208"/>
            <a:ext cx="393192" cy="393192"/>
          </a:xfrm>
          <a:prstGeom prst="ellipse">
            <a:avLst/>
          </a:prstGeom>
          <a:solidFill>
            <a:srgbClr val="14324A"/>
          </a:solidFill>
          <a:ln w="12700">
            <a:solidFill>
              <a:srgbClr val="14324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8368" y="2907792"/>
            <a:ext cx="3931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261872" y="2807208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324A"/>
                </a:solidFill>
              </a:rPr>
              <a:t>Write rules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3703320" y="2798064"/>
            <a:ext cx="722376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</a:rPr>
              <a:t>Describe which input combinations correspond to each state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59536" y="3209544"/>
            <a:ext cx="0" cy="356616"/>
          </a:xfrm>
          <a:prstGeom prst="line">
            <a:avLst/>
          </a:prstGeom>
          <a:noFill/>
          <a:ln w="17780">
            <a:solidFill>
              <a:srgbClr val="D9E1E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58368" y="3557016"/>
            <a:ext cx="393192" cy="393192"/>
          </a:xfrm>
          <a:prstGeom prst="ellipse">
            <a:avLst/>
          </a:prstGeom>
          <a:solidFill>
            <a:srgbClr val="14324A"/>
          </a:solidFill>
          <a:ln w="12700">
            <a:solidFill>
              <a:srgbClr val="1432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58368" y="3657600"/>
            <a:ext cx="3931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4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261872" y="3557016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324A"/>
                </a:solidFill>
              </a:rPr>
              <a:t>Translate to Boolean logic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3703320" y="3547872"/>
            <a:ext cx="722376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</a:rPr>
              <a:t>Use AND, OR, and NOT to implement the rules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859536" y="3959352"/>
            <a:ext cx="0" cy="356616"/>
          </a:xfrm>
          <a:prstGeom prst="line">
            <a:avLst/>
          </a:prstGeom>
          <a:noFill/>
          <a:ln w="17780">
            <a:solidFill>
              <a:srgbClr val="D9E1E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58368" y="4306824"/>
            <a:ext cx="393192" cy="393192"/>
          </a:xfrm>
          <a:prstGeom prst="ellipse">
            <a:avLst/>
          </a:prstGeom>
          <a:solidFill>
            <a:srgbClr val="14324A"/>
          </a:solidFill>
          <a:ln w="12700">
            <a:solidFill>
              <a:srgbClr val="14324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58368" y="4407408"/>
            <a:ext cx="3931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5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1261872" y="4306824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324A"/>
                </a:solidFill>
              </a:rPr>
              <a:t>Build in Logisim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3703320" y="4297680"/>
            <a:ext cx="722376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</a:rPr>
              <a:t>Connect gates and outputs for one security zone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859536" y="4709160"/>
            <a:ext cx="0" cy="356616"/>
          </a:xfrm>
          <a:prstGeom prst="line">
            <a:avLst/>
          </a:prstGeom>
          <a:noFill/>
          <a:ln w="17780">
            <a:solidFill>
              <a:srgbClr val="D9E1E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58368" y="5056632"/>
            <a:ext cx="393192" cy="393192"/>
          </a:xfrm>
          <a:prstGeom prst="ellipse">
            <a:avLst/>
          </a:prstGeom>
          <a:solidFill>
            <a:srgbClr val="14324A"/>
          </a:solidFill>
          <a:ln w="12700">
            <a:solidFill>
              <a:srgbClr val="14324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58368" y="5157216"/>
            <a:ext cx="3931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6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1261872" y="5056632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324A"/>
                </a:solidFill>
              </a:rPr>
              <a:t>Test combinations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3703320" y="5047488"/>
            <a:ext cx="722376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</a:rPr>
              <a:t>Verify representative scenarios and edge cases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667512" y="5815584"/>
            <a:ext cx="10835640" cy="438912"/>
          </a:xfrm>
          <a:prstGeom prst="roundRect">
            <a:avLst>
              <a:gd name="adj" fmla="val 16667"/>
            </a:avLst>
          </a:prstGeom>
          <a:solidFill>
            <a:srgbClr val="EAF3F8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67512" y="5815584"/>
            <a:ext cx="73152" cy="438912"/>
          </a:xfrm>
          <a:prstGeom prst="rect">
            <a:avLst/>
          </a:prstGeom>
          <a:solidFill>
            <a:srgbClr val="2BA8C6"/>
          </a:solidFill>
          <a:ln w="12700">
            <a:solidFill>
              <a:srgbClr val="2BA8C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68680" y="5961888"/>
            <a:ext cx="10515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324A"/>
                </a:solidFill>
              </a:rPr>
              <a:t>Key principle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868680" y="6291072"/>
            <a:ext cx="10515600" cy="-1554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</a:rPr>
              <a:t>The circuit is deterministic: the same input combination always produces the same classification.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41908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1809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38912"/>
            <a:ext cx="9875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32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9. Results and Discussion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85216" y="905256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</a:rPr>
              <a:t>Representative test cases and expected circuit behavior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9582912" y="475488"/>
            <a:ext cx="1691640" cy="347472"/>
          </a:xfrm>
          <a:prstGeom prst="roundRect">
            <a:avLst>
              <a:gd name="adj" fmla="val 21053"/>
            </a:avLst>
          </a:prstGeom>
          <a:solidFill>
            <a:srgbClr val="EAF3F8"/>
          </a:solidFill>
          <a:ln w="12700">
            <a:solidFill>
              <a:srgbClr val="EAF3F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56064" y="562356"/>
            <a:ext cx="15453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D5F85"/>
                </a:solidFill>
              </a:rPr>
              <a:t>RESULTS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21792" y="1325880"/>
            <a:ext cx="868680" cy="411480"/>
          </a:xfrm>
          <a:prstGeom prst="rect">
            <a:avLst/>
          </a:prstGeom>
          <a:solidFill>
            <a:srgbClr val="14324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1453896"/>
            <a:ext cx="79552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Case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1508760" y="1325880"/>
            <a:ext cx="731520" cy="411480"/>
          </a:xfrm>
          <a:prstGeom prst="rect">
            <a:avLst/>
          </a:prstGeom>
          <a:solidFill>
            <a:srgbClr val="14324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45336" y="1453896"/>
            <a:ext cx="65836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A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2240280" y="1325880"/>
            <a:ext cx="731520" cy="411480"/>
          </a:xfrm>
          <a:prstGeom prst="rect">
            <a:avLst/>
          </a:prstGeom>
          <a:solidFill>
            <a:srgbClr val="14324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276856" y="1453896"/>
            <a:ext cx="65836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D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2971800" y="1325880"/>
            <a:ext cx="731520" cy="411480"/>
          </a:xfrm>
          <a:prstGeom prst="rect">
            <a:avLst/>
          </a:prstGeom>
          <a:solidFill>
            <a:srgbClr val="14324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008376" y="1453896"/>
            <a:ext cx="65836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M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3703320" y="1325880"/>
            <a:ext cx="731520" cy="411480"/>
          </a:xfrm>
          <a:prstGeom prst="rect">
            <a:avLst/>
          </a:prstGeom>
          <a:solidFill>
            <a:srgbClr val="14324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739896" y="1453896"/>
            <a:ext cx="65836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F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4434840" y="1325880"/>
            <a:ext cx="868680" cy="411480"/>
          </a:xfrm>
          <a:prstGeom prst="rect">
            <a:avLst/>
          </a:prstGeom>
          <a:solidFill>
            <a:srgbClr val="14324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471416" y="1453896"/>
            <a:ext cx="79552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H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5349240" y="1325880"/>
            <a:ext cx="2011680" cy="411480"/>
          </a:xfrm>
          <a:prstGeom prst="rect">
            <a:avLst/>
          </a:prstGeom>
          <a:solidFill>
            <a:srgbClr val="14324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385816" y="1453896"/>
            <a:ext cx="193852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Situation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7543800" y="1325880"/>
            <a:ext cx="1645920" cy="411480"/>
          </a:xfrm>
          <a:prstGeom prst="rect">
            <a:avLst/>
          </a:prstGeom>
          <a:solidFill>
            <a:srgbClr val="14324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580376" y="1453896"/>
            <a:ext cx="157276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Expected state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9281160" y="1325880"/>
            <a:ext cx="1828800" cy="411480"/>
          </a:xfrm>
          <a:prstGeom prst="rect">
            <a:avLst/>
          </a:prstGeom>
          <a:solidFill>
            <a:srgbClr val="14324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317736" y="1453896"/>
            <a:ext cx="17556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Comment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621792" y="1737360"/>
            <a:ext cx="868680" cy="576072"/>
          </a:xfrm>
          <a:prstGeom prst="rect">
            <a:avLst/>
          </a:prstGeom>
          <a:solidFill>
            <a:srgbClr val="FFFFFF"/>
          </a:solidFill>
          <a:ln w="5715">
            <a:solidFill>
              <a:srgbClr val="D9E1E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67512" y="1901952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40" dirty="0">
                <a:solidFill>
                  <a:srgbClr val="1F2937"/>
                </a:solidFill>
              </a:rPr>
              <a:t>Normal</a:t>
            </a:r>
            <a:endParaRPr lang="en-US" sz="840" dirty="0"/>
          </a:p>
        </p:txBody>
      </p:sp>
      <p:sp>
        <p:nvSpPr>
          <p:cNvPr id="26" name="Shape 24"/>
          <p:cNvSpPr/>
          <p:nvPr/>
        </p:nvSpPr>
        <p:spPr>
          <a:xfrm>
            <a:off x="1508760" y="1737360"/>
            <a:ext cx="731520" cy="576072"/>
          </a:xfrm>
          <a:prstGeom prst="rect">
            <a:avLst/>
          </a:prstGeom>
          <a:solidFill>
            <a:srgbClr val="FFFFFF"/>
          </a:solidFill>
          <a:ln w="5715">
            <a:solidFill>
              <a:srgbClr val="D9E1E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554480" y="1901952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40" dirty="0">
                <a:solidFill>
                  <a:srgbClr val="1F2937"/>
                </a:solidFill>
              </a:rPr>
              <a:t>0</a:t>
            </a:r>
            <a:endParaRPr lang="en-US" sz="840" dirty="0"/>
          </a:p>
        </p:txBody>
      </p:sp>
      <p:sp>
        <p:nvSpPr>
          <p:cNvPr id="28" name="Shape 26"/>
          <p:cNvSpPr/>
          <p:nvPr/>
        </p:nvSpPr>
        <p:spPr>
          <a:xfrm>
            <a:off x="2240280" y="1737360"/>
            <a:ext cx="731520" cy="576072"/>
          </a:xfrm>
          <a:prstGeom prst="rect">
            <a:avLst/>
          </a:prstGeom>
          <a:solidFill>
            <a:srgbClr val="FFFFFF"/>
          </a:solidFill>
          <a:ln w="5715">
            <a:solidFill>
              <a:srgbClr val="D9E1E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286000" y="1901952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40" dirty="0">
                <a:solidFill>
                  <a:srgbClr val="1F2937"/>
                </a:solidFill>
              </a:rPr>
              <a:t>0</a:t>
            </a:r>
            <a:endParaRPr lang="en-US" sz="840" dirty="0"/>
          </a:p>
        </p:txBody>
      </p:sp>
      <p:sp>
        <p:nvSpPr>
          <p:cNvPr id="30" name="Shape 28"/>
          <p:cNvSpPr/>
          <p:nvPr/>
        </p:nvSpPr>
        <p:spPr>
          <a:xfrm>
            <a:off x="2971800" y="1737360"/>
            <a:ext cx="731520" cy="576072"/>
          </a:xfrm>
          <a:prstGeom prst="rect">
            <a:avLst/>
          </a:prstGeom>
          <a:solidFill>
            <a:srgbClr val="FFFFFF"/>
          </a:solidFill>
          <a:ln w="5715">
            <a:solidFill>
              <a:srgbClr val="D9E1E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017520" y="1901952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40" dirty="0">
                <a:solidFill>
                  <a:srgbClr val="1F2937"/>
                </a:solidFill>
              </a:rPr>
              <a:t>0</a:t>
            </a:r>
            <a:endParaRPr lang="en-US" sz="840" dirty="0"/>
          </a:p>
        </p:txBody>
      </p:sp>
      <p:sp>
        <p:nvSpPr>
          <p:cNvPr id="32" name="Shape 30"/>
          <p:cNvSpPr/>
          <p:nvPr/>
        </p:nvSpPr>
        <p:spPr>
          <a:xfrm>
            <a:off x="3703320" y="1737360"/>
            <a:ext cx="731520" cy="576072"/>
          </a:xfrm>
          <a:prstGeom prst="rect">
            <a:avLst/>
          </a:prstGeom>
          <a:solidFill>
            <a:srgbClr val="FFFFFF"/>
          </a:solidFill>
          <a:ln w="5715">
            <a:solidFill>
              <a:srgbClr val="D9E1E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749040" y="1901952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40" dirty="0">
                <a:solidFill>
                  <a:srgbClr val="1F2937"/>
                </a:solidFill>
              </a:rPr>
              <a:t>0</a:t>
            </a:r>
            <a:endParaRPr lang="en-US" sz="840" dirty="0"/>
          </a:p>
        </p:txBody>
      </p:sp>
      <p:sp>
        <p:nvSpPr>
          <p:cNvPr id="34" name="Shape 32"/>
          <p:cNvSpPr/>
          <p:nvPr/>
        </p:nvSpPr>
        <p:spPr>
          <a:xfrm>
            <a:off x="4434840" y="1737360"/>
            <a:ext cx="868680" cy="576072"/>
          </a:xfrm>
          <a:prstGeom prst="rect">
            <a:avLst/>
          </a:prstGeom>
          <a:solidFill>
            <a:srgbClr val="FFFFFF"/>
          </a:solidFill>
          <a:ln w="5715">
            <a:solidFill>
              <a:srgbClr val="D9E1E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480560" y="1901952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40" dirty="0">
                <a:solidFill>
                  <a:srgbClr val="1F2937"/>
                </a:solidFill>
              </a:rPr>
              <a:t>0</a:t>
            </a:r>
            <a:endParaRPr lang="en-US" sz="840" dirty="0"/>
          </a:p>
        </p:txBody>
      </p:sp>
      <p:sp>
        <p:nvSpPr>
          <p:cNvPr id="36" name="Shape 34"/>
          <p:cNvSpPr/>
          <p:nvPr/>
        </p:nvSpPr>
        <p:spPr>
          <a:xfrm>
            <a:off x="5349240" y="1737360"/>
            <a:ext cx="2011680" cy="576072"/>
          </a:xfrm>
          <a:prstGeom prst="rect">
            <a:avLst/>
          </a:prstGeom>
          <a:solidFill>
            <a:srgbClr val="FFFFFF"/>
          </a:solidFill>
          <a:ln w="5715">
            <a:solidFill>
              <a:srgbClr val="D9E1E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394960" y="1901952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40" dirty="0">
                <a:solidFill>
                  <a:srgbClr val="1F2937"/>
                </a:solidFill>
              </a:rPr>
              <a:t>No active security event</a:t>
            </a:r>
            <a:endParaRPr lang="en-US" sz="840" dirty="0"/>
          </a:p>
        </p:txBody>
      </p:sp>
      <p:sp>
        <p:nvSpPr>
          <p:cNvPr id="38" name="Shape 36"/>
          <p:cNvSpPr/>
          <p:nvPr/>
        </p:nvSpPr>
        <p:spPr>
          <a:xfrm>
            <a:off x="7543800" y="1737360"/>
            <a:ext cx="1645920" cy="576072"/>
          </a:xfrm>
          <a:prstGeom prst="rect">
            <a:avLst/>
          </a:prstGeom>
          <a:solidFill>
            <a:srgbClr val="FFFFFF"/>
          </a:solidFill>
          <a:ln w="5715">
            <a:solidFill>
              <a:srgbClr val="D9E1E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589520" y="1901952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3B8064"/>
                </a:solidFill>
              </a:rPr>
              <a:t>SAFE</a:t>
            </a:r>
            <a:endParaRPr lang="en-US" sz="840" dirty="0"/>
          </a:p>
        </p:txBody>
      </p:sp>
      <p:sp>
        <p:nvSpPr>
          <p:cNvPr id="40" name="Shape 38"/>
          <p:cNvSpPr/>
          <p:nvPr/>
        </p:nvSpPr>
        <p:spPr>
          <a:xfrm>
            <a:off x="9281160" y="1737360"/>
            <a:ext cx="1828800" cy="576072"/>
          </a:xfrm>
          <a:prstGeom prst="rect">
            <a:avLst/>
          </a:prstGeom>
          <a:solidFill>
            <a:srgbClr val="FFFFFF"/>
          </a:solidFill>
          <a:ln w="5715">
            <a:solidFill>
              <a:srgbClr val="D9E1E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9326880" y="1901952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40" dirty="0">
                <a:solidFill>
                  <a:srgbClr val="1F2937"/>
                </a:solidFill>
              </a:rPr>
              <a:t>Disarmed / idle</a:t>
            </a:r>
            <a:endParaRPr lang="en-US" sz="840" dirty="0"/>
          </a:p>
        </p:txBody>
      </p:sp>
      <p:sp>
        <p:nvSpPr>
          <p:cNvPr id="42" name="Shape 40"/>
          <p:cNvSpPr/>
          <p:nvPr/>
        </p:nvSpPr>
        <p:spPr>
          <a:xfrm>
            <a:off x="621792" y="2313432"/>
            <a:ext cx="868680" cy="576072"/>
          </a:xfrm>
          <a:prstGeom prst="rect">
            <a:avLst/>
          </a:prstGeom>
          <a:solidFill>
            <a:srgbClr val="F8FAFC"/>
          </a:solidFill>
          <a:ln w="5715">
            <a:solidFill>
              <a:srgbClr val="D9E1E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67512" y="2478024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40" dirty="0">
                <a:solidFill>
                  <a:srgbClr val="1F2937"/>
                </a:solidFill>
              </a:rPr>
              <a:t>Door while armed</a:t>
            </a:r>
            <a:endParaRPr lang="en-US" sz="840" dirty="0"/>
          </a:p>
        </p:txBody>
      </p:sp>
      <p:sp>
        <p:nvSpPr>
          <p:cNvPr id="44" name="Shape 42"/>
          <p:cNvSpPr/>
          <p:nvPr/>
        </p:nvSpPr>
        <p:spPr>
          <a:xfrm>
            <a:off x="1508760" y="2313432"/>
            <a:ext cx="731520" cy="576072"/>
          </a:xfrm>
          <a:prstGeom prst="rect">
            <a:avLst/>
          </a:prstGeom>
          <a:solidFill>
            <a:srgbClr val="F8FAFC"/>
          </a:solidFill>
          <a:ln w="5715">
            <a:solidFill>
              <a:srgbClr val="D9E1E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1554480" y="2478024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40" dirty="0">
                <a:solidFill>
                  <a:srgbClr val="1F2937"/>
                </a:solidFill>
              </a:rPr>
              <a:t>1</a:t>
            </a:r>
            <a:endParaRPr lang="en-US" sz="840" dirty="0"/>
          </a:p>
        </p:txBody>
      </p:sp>
      <p:sp>
        <p:nvSpPr>
          <p:cNvPr id="46" name="Shape 44"/>
          <p:cNvSpPr/>
          <p:nvPr/>
        </p:nvSpPr>
        <p:spPr>
          <a:xfrm>
            <a:off x="2240280" y="2313432"/>
            <a:ext cx="731520" cy="576072"/>
          </a:xfrm>
          <a:prstGeom prst="rect">
            <a:avLst/>
          </a:prstGeom>
          <a:solidFill>
            <a:srgbClr val="F8FAFC"/>
          </a:solidFill>
          <a:ln w="5715">
            <a:solidFill>
              <a:srgbClr val="D9E1EA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286000" y="2478024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40" dirty="0">
                <a:solidFill>
                  <a:srgbClr val="1F2937"/>
                </a:solidFill>
              </a:rPr>
              <a:t>1</a:t>
            </a:r>
            <a:endParaRPr lang="en-US" sz="840" dirty="0"/>
          </a:p>
        </p:txBody>
      </p:sp>
      <p:sp>
        <p:nvSpPr>
          <p:cNvPr id="48" name="Shape 46"/>
          <p:cNvSpPr/>
          <p:nvPr/>
        </p:nvSpPr>
        <p:spPr>
          <a:xfrm>
            <a:off x="2971800" y="2313432"/>
            <a:ext cx="731520" cy="576072"/>
          </a:xfrm>
          <a:prstGeom prst="rect">
            <a:avLst/>
          </a:prstGeom>
          <a:solidFill>
            <a:srgbClr val="F8FAFC"/>
          </a:solidFill>
          <a:ln w="5715">
            <a:solidFill>
              <a:srgbClr val="D9E1EA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017520" y="2478024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40" dirty="0">
                <a:solidFill>
                  <a:srgbClr val="1F2937"/>
                </a:solidFill>
              </a:rPr>
              <a:t>0</a:t>
            </a:r>
            <a:endParaRPr lang="en-US" sz="840" dirty="0"/>
          </a:p>
        </p:txBody>
      </p:sp>
      <p:sp>
        <p:nvSpPr>
          <p:cNvPr id="50" name="Shape 48"/>
          <p:cNvSpPr/>
          <p:nvPr/>
        </p:nvSpPr>
        <p:spPr>
          <a:xfrm>
            <a:off x="3703320" y="2313432"/>
            <a:ext cx="731520" cy="576072"/>
          </a:xfrm>
          <a:prstGeom prst="rect">
            <a:avLst/>
          </a:prstGeom>
          <a:solidFill>
            <a:srgbClr val="F8FAFC"/>
          </a:solidFill>
          <a:ln w="5715">
            <a:solidFill>
              <a:srgbClr val="D9E1EA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3749040" y="2478024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40" dirty="0">
                <a:solidFill>
                  <a:srgbClr val="1F2937"/>
                </a:solidFill>
              </a:rPr>
              <a:t>0</a:t>
            </a:r>
            <a:endParaRPr lang="en-US" sz="840" dirty="0"/>
          </a:p>
        </p:txBody>
      </p:sp>
      <p:sp>
        <p:nvSpPr>
          <p:cNvPr id="52" name="Shape 50"/>
          <p:cNvSpPr/>
          <p:nvPr/>
        </p:nvSpPr>
        <p:spPr>
          <a:xfrm>
            <a:off x="4434840" y="2313432"/>
            <a:ext cx="868680" cy="576072"/>
          </a:xfrm>
          <a:prstGeom prst="rect">
            <a:avLst/>
          </a:prstGeom>
          <a:solidFill>
            <a:srgbClr val="F8FAFC"/>
          </a:solidFill>
          <a:ln w="5715">
            <a:solidFill>
              <a:srgbClr val="D9E1EA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480560" y="2478024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40" dirty="0">
                <a:solidFill>
                  <a:srgbClr val="1F2937"/>
                </a:solidFill>
              </a:rPr>
              <a:t>0</a:t>
            </a:r>
            <a:endParaRPr lang="en-US" sz="840" dirty="0"/>
          </a:p>
        </p:txBody>
      </p:sp>
      <p:sp>
        <p:nvSpPr>
          <p:cNvPr id="54" name="Shape 52"/>
          <p:cNvSpPr/>
          <p:nvPr/>
        </p:nvSpPr>
        <p:spPr>
          <a:xfrm>
            <a:off x="5349240" y="2313432"/>
            <a:ext cx="2011680" cy="576072"/>
          </a:xfrm>
          <a:prstGeom prst="rect">
            <a:avLst/>
          </a:prstGeom>
          <a:solidFill>
            <a:srgbClr val="F8FAFC"/>
          </a:solidFill>
          <a:ln w="5715">
            <a:solidFill>
              <a:srgbClr val="D9E1EA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5394960" y="2478024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40" dirty="0">
                <a:solidFill>
                  <a:srgbClr val="1F2937"/>
                </a:solidFill>
              </a:rPr>
              <a:t>Open door</a:t>
            </a:r>
            <a:endParaRPr lang="en-US" sz="840" dirty="0"/>
          </a:p>
        </p:txBody>
      </p:sp>
      <p:sp>
        <p:nvSpPr>
          <p:cNvPr id="56" name="Shape 54"/>
          <p:cNvSpPr/>
          <p:nvPr/>
        </p:nvSpPr>
        <p:spPr>
          <a:xfrm>
            <a:off x="7543800" y="2313432"/>
            <a:ext cx="1645920" cy="576072"/>
          </a:xfrm>
          <a:prstGeom prst="rect">
            <a:avLst/>
          </a:prstGeom>
          <a:solidFill>
            <a:srgbClr val="F8FAFC"/>
          </a:solidFill>
          <a:ln w="5715">
            <a:solidFill>
              <a:srgbClr val="D9E1EA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7589520" y="2478024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8B5B00"/>
                </a:solidFill>
              </a:rPr>
              <a:t>WARNING</a:t>
            </a:r>
            <a:endParaRPr lang="en-US" sz="840" dirty="0"/>
          </a:p>
        </p:txBody>
      </p:sp>
      <p:sp>
        <p:nvSpPr>
          <p:cNvPr id="58" name="Shape 56"/>
          <p:cNvSpPr/>
          <p:nvPr/>
        </p:nvSpPr>
        <p:spPr>
          <a:xfrm>
            <a:off x="9281160" y="2313432"/>
            <a:ext cx="1828800" cy="576072"/>
          </a:xfrm>
          <a:prstGeom prst="rect">
            <a:avLst/>
          </a:prstGeom>
          <a:solidFill>
            <a:srgbClr val="F8FAFC"/>
          </a:solidFill>
          <a:ln w="5715">
            <a:solidFill>
              <a:srgbClr val="D9E1EA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9326880" y="2478024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40" dirty="0">
                <a:solidFill>
                  <a:srgbClr val="1F2937"/>
                </a:solidFill>
              </a:rPr>
              <a:t>Suspicious but not yet intrusion</a:t>
            </a:r>
            <a:endParaRPr lang="en-US" sz="840" dirty="0"/>
          </a:p>
        </p:txBody>
      </p:sp>
      <p:sp>
        <p:nvSpPr>
          <p:cNvPr id="60" name="Shape 58"/>
          <p:cNvSpPr/>
          <p:nvPr/>
        </p:nvSpPr>
        <p:spPr>
          <a:xfrm>
            <a:off x="621792" y="2889504"/>
            <a:ext cx="868680" cy="576072"/>
          </a:xfrm>
          <a:prstGeom prst="rect">
            <a:avLst/>
          </a:prstGeom>
          <a:solidFill>
            <a:srgbClr val="FFFFFF"/>
          </a:solidFill>
          <a:ln w="5715">
            <a:solidFill>
              <a:srgbClr val="D9E1EA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667512" y="3054096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40" dirty="0">
                <a:solidFill>
                  <a:srgbClr val="1F2937"/>
                </a:solidFill>
              </a:rPr>
              <a:t>Door + motion</a:t>
            </a:r>
            <a:endParaRPr lang="en-US" sz="840" dirty="0"/>
          </a:p>
        </p:txBody>
      </p:sp>
      <p:sp>
        <p:nvSpPr>
          <p:cNvPr id="62" name="Shape 60"/>
          <p:cNvSpPr/>
          <p:nvPr/>
        </p:nvSpPr>
        <p:spPr>
          <a:xfrm>
            <a:off x="1508760" y="2889504"/>
            <a:ext cx="731520" cy="576072"/>
          </a:xfrm>
          <a:prstGeom prst="rect">
            <a:avLst/>
          </a:prstGeom>
          <a:solidFill>
            <a:srgbClr val="FFFFFF"/>
          </a:solidFill>
          <a:ln w="5715">
            <a:solidFill>
              <a:srgbClr val="D9E1EA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1554480" y="3054096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40" dirty="0">
                <a:solidFill>
                  <a:srgbClr val="1F2937"/>
                </a:solidFill>
              </a:rPr>
              <a:t>1</a:t>
            </a:r>
            <a:endParaRPr lang="en-US" sz="840" dirty="0"/>
          </a:p>
        </p:txBody>
      </p:sp>
      <p:sp>
        <p:nvSpPr>
          <p:cNvPr id="64" name="Shape 62"/>
          <p:cNvSpPr/>
          <p:nvPr/>
        </p:nvSpPr>
        <p:spPr>
          <a:xfrm>
            <a:off x="2240280" y="2889504"/>
            <a:ext cx="731520" cy="576072"/>
          </a:xfrm>
          <a:prstGeom prst="rect">
            <a:avLst/>
          </a:prstGeom>
          <a:solidFill>
            <a:srgbClr val="FFFFFF"/>
          </a:solidFill>
          <a:ln w="5715">
            <a:solidFill>
              <a:srgbClr val="D9E1EA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2286000" y="3054096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40" dirty="0">
                <a:solidFill>
                  <a:srgbClr val="1F2937"/>
                </a:solidFill>
              </a:rPr>
              <a:t>1</a:t>
            </a:r>
            <a:endParaRPr lang="en-US" sz="840" dirty="0"/>
          </a:p>
        </p:txBody>
      </p:sp>
      <p:sp>
        <p:nvSpPr>
          <p:cNvPr id="66" name="Shape 64"/>
          <p:cNvSpPr/>
          <p:nvPr/>
        </p:nvSpPr>
        <p:spPr>
          <a:xfrm>
            <a:off x="2971800" y="2889504"/>
            <a:ext cx="731520" cy="576072"/>
          </a:xfrm>
          <a:prstGeom prst="rect">
            <a:avLst/>
          </a:prstGeom>
          <a:solidFill>
            <a:srgbClr val="FFFFFF"/>
          </a:solidFill>
          <a:ln w="5715">
            <a:solidFill>
              <a:srgbClr val="D9E1EA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3017520" y="3054096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40" dirty="0">
                <a:solidFill>
                  <a:srgbClr val="1F2937"/>
                </a:solidFill>
              </a:rPr>
              <a:t>1</a:t>
            </a:r>
            <a:endParaRPr lang="en-US" sz="840" dirty="0"/>
          </a:p>
        </p:txBody>
      </p:sp>
      <p:sp>
        <p:nvSpPr>
          <p:cNvPr id="68" name="Shape 66"/>
          <p:cNvSpPr/>
          <p:nvPr/>
        </p:nvSpPr>
        <p:spPr>
          <a:xfrm>
            <a:off x="3703320" y="2889504"/>
            <a:ext cx="731520" cy="576072"/>
          </a:xfrm>
          <a:prstGeom prst="rect">
            <a:avLst/>
          </a:prstGeom>
          <a:solidFill>
            <a:srgbClr val="FFFFFF"/>
          </a:solidFill>
          <a:ln w="5715">
            <a:solidFill>
              <a:srgbClr val="D9E1EA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3749040" y="3054096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40" dirty="0">
                <a:solidFill>
                  <a:srgbClr val="1F2937"/>
                </a:solidFill>
              </a:rPr>
              <a:t>0</a:t>
            </a:r>
            <a:endParaRPr lang="en-US" sz="840" dirty="0"/>
          </a:p>
        </p:txBody>
      </p:sp>
      <p:sp>
        <p:nvSpPr>
          <p:cNvPr id="70" name="Shape 68"/>
          <p:cNvSpPr/>
          <p:nvPr/>
        </p:nvSpPr>
        <p:spPr>
          <a:xfrm>
            <a:off x="4434840" y="2889504"/>
            <a:ext cx="868680" cy="576072"/>
          </a:xfrm>
          <a:prstGeom prst="rect">
            <a:avLst/>
          </a:prstGeom>
          <a:solidFill>
            <a:srgbClr val="FFFFFF"/>
          </a:solidFill>
          <a:ln w="5715">
            <a:solidFill>
              <a:srgbClr val="D9E1EA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4480560" y="3054096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40" dirty="0">
                <a:solidFill>
                  <a:srgbClr val="1F2937"/>
                </a:solidFill>
              </a:rPr>
              <a:t>0</a:t>
            </a:r>
            <a:endParaRPr lang="en-US" sz="840" dirty="0"/>
          </a:p>
        </p:txBody>
      </p:sp>
      <p:sp>
        <p:nvSpPr>
          <p:cNvPr id="72" name="Shape 70"/>
          <p:cNvSpPr/>
          <p:nvPr/>
        </p:nvSpPr>
        <p:spPr>
          <a:xfrm>
            <a:off x="5349240" y="2889504"/>
            <a:ext cx="2011680" cy="576072"/>
          </a:xfrm>
          <a:prstGeom prst="rect">
            <a:avLst/>
          </a:prstGeom>
          <a:solidFill>
            <a:srgbClr val="FFFFFF"/>
          </a:solidFill>
          <a:ln w="5715">
            <a:solidFill>
              <a:srgbClr val="D9E1EA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5394960" y="3054096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40" dirty="0">
                <a:solidFill>
                  <a:srgbClr val="1F2937"/>
                </a:solidFill>
              </a:rPr>
              <a:t>Open door + movement</a:t>
            </a:r>
            <a:endParaRPr lang="en-US" sz="840" dirty="0"/>
          </a:p>
        </p:txBody>
      </p:sp>
      <p:sp>
        <p:nvSpPr>
          <p:cNvPr id="74" name="Shape 72"/>
          <p:cNvSpPr/>
          <p:nvPr/>
        </p:nvSpPr>
        <p:spPr>
          <a:xfrm>
            <a:off x="7543800" y="2889504"/>
            <a:ext cx="1645920" cy="576072"/>
          </a:xfrm>
          <a:prstGeom prst="rect">
            <a:avLst/>
          </a:prstGeom>
          <a:solidFill>
            <a:srgbClr val="FFFFFF"/>
          </a:solidFill>
          <a:ln w="5715">
            <a:solidFill>
              <a:srgbClr val="D9E1EA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7589520" y="3054096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C94747"/>
                </a:solidFill>
              </a:rPr>
              <a:t>INTRUSION</a:t>
            </a:r>
            <a:endParaRPr lang="en-US" sz="840" dirty="0"/>
          </a:p>
        </p:txBody>
      </p:sp>
      <p:sp>
        <p:nvSpPr>
          <p:cNvPr id="76" name="Shape 74"/>
          <p:cNvSpPr/>
          <p:nvPr/>
        </p:nvSpPr>
        <p:spPr>
          <a:xfrm>
            <a:off x="9281160" y="2889504"/>
            <a:ext cx="1828800" cy="576072"/>
          </a:xfrm>
          <a:prstGeom prst="rect">
            <a:avLst/>
          </a:prstGeom>
          <a:solidFill>
            <a:srgbClr val="FFFFFF"/>
          </a:solidFill>
          <a:ln w="5715">
            <a:solidFill>
              <a:srgbClr val="D9E1EA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9326880" y="3054096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40" dirty="0">
                <a:solidFill>
                  <a:srgbClr val="1F2937"/>
                </a:solidFill>
              </a:rPr>
              <a:t>Stronger combined evidence</a:t>
            </a:r>
            <a:endParaRPr lang="en-US" sz="840" dirty="0"/>
          </a:p>
        </p:txBody>
      </p:sp>
      <p:sp>
        <p:nvSpPr>
          <p:cNvPr id="78" name="Shape 76"/>
          <p:cNvSpPr/>
          <p:nvPr/>
        </p:nvSpPr>
        <p:spPr>
          <a:xfrm>
            <a:off x="621792" y="3465576"/>
            <a:ext cx="868680" cy="576072"/>
          </a:xfrm>
          <a:prstGeom prst="rect">
            <a:avLst/>
          </a:prstGeom>
          <a:solidFill>
            <a:srgbClr val="F8FAFC"/>
          </a:solidFill>
          <a:ln w="5715">
            <a:solidFill>
              <a:srgbClr val="D9E1EA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667512" y="3630168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40" dirty="0">
                <a:solidFill>
                  <a:srgbClr val="1F2937"/>
                </a:solidFill>
              </a:rPr>
              <a:t>Forced entry</a:t>
            </a:r>
            <a:endParaRPr lang="en-US" sz="840" dirty="0"/>
          </a:p>
        </p:txBody>
      </p:sp>
      <p:sp>
        <p:nvSpPr>
          <p:cNvPr id="80" name="Shape 78"/>
          <p:cNvSpPr/>
          <p:nvPr/>
        </p:nvSpPr>
        <p:spPr>
          <a:xfrm>
            <a:off x="1508760" y="3465576"/>
            <a:ext cx="731520" cy="576072"/>
          </a:xfrm>
          <a:prstGeom prst="rect">
            <a:avLst/>
          </a:prstGeom>
          <a:solidFill>
            <a:srgbClr val="F8FAFC"/>
          </a:solidFill>
          <a:ln w="5715">
            <a:solidFill>
              <a:srgbClr val="D9E1EA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1554480" y="3630168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40" dirty="0">
                <a:solidFill>
                  <a:srgbClr val="1F2937"/>
                </a:solidFill>
              </a:rPr>
              <a:t>1</a:t>
            </a:r>
            <a:endParaRPr lang="en-US" sz="840" dirty="0"/>
          </a:p>
        </p:txBody>
      </p:sp>
      <p:sp>
        <p:nvSpPr>
          <p:cNvPr id="82" name="Shape 80"/>
          <p:cNvSpPr/>
          <p:nvPr/>
        </p:nvSpPr>
        <p:spPr>
          <a:xfrm>
            <a:off x="2240280" y="3465576"/>
            <a:ext cx="731520" cy="576072"/>
          </a:xfrm>
          <a:prstGeom prst="rect">
            <a:avLst/>
          </a:prstGeom>
          <a:solidFill>
            <a:srgbClr val="F8FAFC"/>
          </a:solidFill>
          <a:ln w="5715">
            <a:solidFill>
              <a:srgbClr val="D9E1EA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2286000" y="3630168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40" dirty="0">
                <a:solidFill>
                  <a:srgbClr val="1F2937"/>
                </a:solidFill>
              </a:rPr>
              <a:t>0</a:t>
            </a:r>
            <a:endParaRPr lang="en-US" sz="840" dirty="0"/>
          </a:p>
        </p:txBody>
      </p:sp>
      <p:sp>
        <p:nvSpPr>
          <p:cNvPr id="84" name="Shape 82"/>
          <p:cNvSpPr/>
          <p:nvPr/>
        </p:nvSpPr>
        <p:spPr>
          <a:xfrm>
            <a:off x="2971800" y="3465576"/>
            <a:ext cx="731520" cy="576072"/>
          </a:xfrm>
          <a:prstGeom prst="rect">
            <a:avLst/>
          </a:prstGeom>
          <a:solidFill>
            <a:srgbClr val="F8FAFC"/>
          </a:solidFill>
          <a:ln w="5715">
            <a:solidFill>
              <a:srgbClr val="D9E1EA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3017520" y="3630168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40" dirty="0">
                <a:solidFill>
                  <a:srgbClr val="1F2937"/>
                </a:solidFill>
              </a:rPr>
              <a:t>0</a:t>
            </a:r>
            <a:endParaRPr lang="en-US" sz="840" dirty="0"/>
          </a:p>
        </p:txBody>
      </p:sp>
      <p:sp>
        <p:nvSpPr>
          <p:cNvPr id="86" name="Shape 84"/>
          <p:cNvSpPr/>
          <p:nvPr/>
        </p:nvSpPr>
        <p:spPr>
          <a:xfrm>
            <a:off x="3703320" y="3465576"/>
            <a:ext cx="731520" cy="576072"/>
          </a:xfrm>
          <a:prstGeom prst="rect">
            <a:avLst/>
          </a:prstGeom>
          <a:solidFill>
            <a:srgbClr val="F8FAFC"/>
          </a:solidFill>
          <a:ln w="5715">
            <a:solidFill>
              <a:srgbClr val="D9E1EA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3749040" y="3630168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40" dirty="0">
                <a:solidFill>
                  <a:srgbClr val="1F2937"/>
                </a:solidFill>
              </a:rPr>
              <a:t>1</a:t>
            </a:r>
            <a:endParaRPr lang="en-US" sz="840" dirty="0"/>
          </a:p>
        </p:txBody>
      </p:sp>
      <p:sp>
        <p:nvSpPr>
          <p:cNvPr id="88" name="Shape 86"/>
          <p:cNvSpPr/>
          <p:nvPr/>
        </p:nvSpPr>
        <p:spPr>
          <a:xfrm>
            <a:off x="4434840" y="3465576"/>
            <a:ext cx="868680" cy="576072"/>
          </a:xfrm>
          <a:prstGeom prst="rect">
            <a:avLst/>
          </a:prstGeom>
          <a:solidFill>
            <a:srgbClr val="F8FAFC"/>
          </a:solidFill>
          <a:ln w="5715">
            <a:solidFill>
              <a:srgbClr val="D9E1EA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4480560" y="3630168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40" dirty="0">
                <a:solidFill>
                  <a:srgbClr val="1F2937"/>
                </a:solidFill>
              </a:rPr>
              <a:t>0</a:t>
            </a:r>
            <a:endParaRPr lang="en-US" sz="840" dirty="0"/>
          </a:p>
        </p:txBody>
      </p:sp>
      <p:sp>
        <p:nvSpPr>
          <p:cNvPr id="90" name="Shape 88"/>
          <p:cNvSpPr/>
          <p:nvPr/>
        </p:nvSpPr>
        <p:spPr>
          <a:xfrm>
            <a:off x="5349240" y="3465576"/>
            <a:ext cx="2011680" cy="576072"/>
          </a:xfrm>
          <a:prstGeom prst="rect">
            <a:avLst/>
          </a:prstGeom>
          <a:solidFill>
            <a:srgbClr val="F8FAFC"/>
          </a:solidFill>
          <a:ln w="5715">
            <a:solidFill>
              <a:srgbClr val="D9E1EA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5394960" y="3630168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40" dirty="0">
                <a:solidFill>
                  <a:srgbClr val="1F2937"/>
                </a:solidFill>
              </a:rPr>
              <a:t>Direct intrusion signal</a:t>
            </a:r>
            <a:endParaRPr lang="en-US" sz="840" dirty="0"/>
          </a:p>
        </p:txBody>
      </p:sp>
      <p:sp>
        <p:nvSpPr>
          <p:cNvPr id="92" name="Shape 90"/>
          <p:cNvSpPr/>
          <p:nvPr/>
        </p:nvSpPr>
        <p:spPr>
          <a:xfrm>
            <a:off x="7543800" y="3465576"/>
            <a:ext cx="1645920" cy="576072"/>
          </a:xfrm>
          <a:prstGeom prst="rect">
            <a:avLst/>
          </a:prstGeom>
          <a:solidFill>
            <a:srgbClr val="F8FAFC"/>
          </a:solidFill>
          <a:ln w="5715">
            <a:solidFill>
              <a:srgbClr val="D9E1EA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7589520" y="3630168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C94747"/>
                </a:solidFill>
              </a:rPr>
              <a:t>INTRUSION</a:t>
            </a:r>
            <a:endParaRPr lang="en-US" sz="840" dirty="0"/>
          </a:p>
        </p:txBody>
      </p:sp>
      <p:sp>
        <p:nvSpPr>
          <p:cNvPr id="94" name="Shape 92"/>
          <p:cNvSpPr/>
          <p:nvPr/>
        </p:nvSpPr>
        <p:spPr>
          <a:xfrm>
            <a:off x="9281160" y="3465576"/>
            <a:ext cx="1828800" cy="576072"/>
          </a:xfrm>
          <a:prstGeom prst="rect">
            <a:avLst/>
          </a:prstGeom>
          <a:solidFill>
            <a:srgbClr val="F8FAFC"/>
          </a:solidFill>
          <a:ln w="5715">
            <a:solidFill>
              <a:srgbClr val="D9E1EA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9326880" y="3630168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40" dirty="0">
                <a:solidFill>
                  <a:srgbClr val="1F2937"/>
                </a:solidFill>
              </a:rPr>
              <a:t>High-confidence trigger</a:t>
            </a:r>
            <a:endParaRPr lang="en-US" sz="840" dirty="0"/>
          </a:p>
        </p:txBody>
      </p:sp>
      <p:sp>
        <p:nvSpPr>
          <p:cNvPr id="96" name="Shape 94"/>
          <p:cNvSpPr/>
          <p:nvPr/>
        </p:nvSpPr>
        <p:spPr>
          <a:xfrm>
            <a:off x="621792" y="4041648"/>
            <a:ext cx="868680" cy="576072"/>
          </a:xfrm>
          <a:prstGeom prst="rect">
            <a:avLst/>
          </a:prstGeom>
          <a:solidFill>
            <a:srgbClr val="FFFFFF"/>
          </a:solidFill>
          <a:ln w="5715">
            <a:solidFill>
              <a:srgbClr val="D9E1EA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667512" y="4206240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40" dirty="0">
                <a:solidFill>
                  <a:srgbClr val="1F2937"/>
                </a:solidFill>
              </a:rPr>
              <a:t>Heat</a:t>
            </a:r>
            <a:endParaRPr lang="en-US" sz="840" dirty="0"/>
          </a:p>
        </p:txBody>
      </p:sp>
      <p:sp>
        <p:nvSpPr>
          <p:cNvPr id="98" name="Shape 96"/>
          <p:cNvSpPr/>
          <p:nvPr/>
        </p:nvSpPr>
        <p:spPr>
          <a:xfrm>
            <a:off x="1508760" y="4041648"/>
            <a:ext cx="731520" cy="576072"/>
          </a:xfrm>
          <a:prstGeom prst="rect">
            <a:avLst/>
          </a:prstGeom>
          <a:solidFill>
            <a:srgbClr val="FFFFFF"/>
          </a:solidFill>
          <a:ln w="5715">
            <a:solidFill>
              <a:srgbClr val="D9E1EA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1554480" y="420624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40" dirty="0">
                <a:solidFill>
                  <a:srgbClr val="1F2937"/>
                </a:solidFill>
              </a:rPr>
              <a:t>1</a:t>
            </a:r>
            <a:endParaRPr lang="en-US" sz="840" dirty="0"/>
          </a:p>
        </p:txBody>
      </p:sp>
      <p:sp>
        <p:nvSpPr>
          <p:cNvPr id="100" name="Shape 98"/>
          <p:cNvSpPr/>
          <p:nvPr/>
        </p:nvSpPr>
        <p:spPr>
          <a:xfrm>
            <a:off x="2240280" y="4041648"/>
            <a:ext cx="731520" cy="576072"/>
          </a:xfrm>
          <a:prstGeom prst="rect">
            <a:avLst/>
          </a:prstGeom>
          <a:solidFill>
            <a:srgbClr val="FFFFFF"/>
          </a:solidFill>
          <a:ln w="5715">
            <a:solidFill>
              <a:srgbClr val="D9E1EA"/>
            </a:solidFill>
            <a:prstDash val="solid"/>
          </a:ln>
        </p:spPr>
      </p:sp>
      <p:sp>
        <p:nvSpPr>
          <p:cNvPr id="101" name="Text 99"/>
          <p:cNvSpPr/>
          <p:nvPr/>
        </p:nvSpPr>
        <p:spPr>
          <a:xfrm>
            <a:off x="2286000" y="420624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40" dirty="0">
                <a:solidFill>
                  <a:srgbClr val="1F2937"/>
                </a:solidFill>
              </a:rPr>
              <a:t>0</a:t>
            </a:r>
            <a:endParaRPr lang="en-US" sz="840" dirty="0"/>
          </a:p>
        </p:txBody>
      </p:sp>
      <p:sp>
        <p:nvSpPr>
          <p:cNvPr id="102" name="Shape 100"/>
          <p:cNvSpPr/>
          <p:nvPr/>
        </p:nvSpPr>
        <p:spPr>
          <a:xfrm>
            <a:off x="2971800" y="4041648"/>
            <a:ext cx="731520" cy="576072"/>
          </a:xfrm>
          <a:prstGeom prst="rect">
            <a:avLst/>
          </a:prstGeom>
          <a:solidFill>
            <a:srgbClr val="FFFFFF"/>
          </a:solidFill>
          <a:ln w="5715">
            <a:solidFill>
              <a:srgbClr val="D9E1EA"/>
            </a:solidFill>
            <a:prstDash val="solid"/>
          </a:ln>
        </p:spPr>
      </p:sp>
      <p:sp>
        <p:nvSpPr>
          <p:cNvPr id="103" name="Text 101"/>
          <p:cNvSpPr/>
          <p:nvPr/>
        </p:nvSpPr>
        <p:spPr>
          <a:xfrm>
            <a:off x="3017520" y="420624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40" dirty="0">
                <a:solidFill>
                  <a:srgbClr val="1F2937"/>
                </a:solidFill>
              </a:rPr>
              <a:t>0</a:t>
            </a:r>
            <a:endParaRPr lang="en-US" sz="840" dirty="0"/>
          </a:p>
        </p:txBody>
      </p:sp>
      <p:sp>
        <p:nvSpPr>
          <p:cNvPr id="104" name="Shape 102"/>
          <p:cNvSpPr/>
          <p:nvPr/>
        </p:nvSpPr>
        <p:spPr>
          <a:xfrm>
            <a:off x="3703320" y="4041648"/>
            <a:ext cx="731520" cy="576072"/>
          </a:xfrm>
          <a:prstGeom prst="rect">
            <a:avLst/>
          </a:prstGeom>
          <a:solidFill>
            <a:srgbClr val="FFFFFF"/>
          </a:solidFill>
          <a:ln w="5715">
            <a:solidFill>
              <a:srgbClr val="D9E1EA"/>
            </a:solidFill>
            <a:prstDash val="solid"/>
          </a:ln>
        </p:spPr>
      </p:sp>
      <p:sp>
        <p:nvSpPr>
          <p:cNvPr id="105" name="Text 103"/>
          <p:cNvSpPr/>
          <p:nvPr/>
        </p:nvSpPr>
        <p:spPr>
          <a:xfrm>
            <a:off x="3749040" y="420624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40" dirty="0">
                <a:solidFill>
                  <a:srgbClr val="1F2937"/>
                </a:solidFill>
              </a:rPr>
              <a:t>0</a:t>
            </a:r>
            <a:endParaRPr lang="en-US" sz="840" dirty="0"/>
          </a:p>
        </p:txBody>
      </p:sp>
      <p:sp>
        <p:nvSpPr>
          <p:cNvPr id="106" name="Shape 104"/>
          <p:cNvSpPr/>
          <p:nvPr/>
        </p:nvSpPr>
        <p:spPr>
          <a:xfrm>
            <a:off x="4434840" y="4041648"/>
            <a:ext cx="868680" cy="576072"/>
          </a:xfrm>
          <a:prstGeom prst="rect">
            <a:avLst/>
          </a:prstGeom>
          <a:solidFill>
            <a:srgbClr val="FFFFFF"/>
          </a:solidFill>
          <a:ln w="5715">
            <a:solidFill>
              <a:srgbClr val="D9E1EA"/>
            </a:solidFill>
            <a:prstDash val="solid"/>
          </a:ln>
        </p:spPr>
      </p:sp>
      <p:sp>
        <p:nvSpPr>
          <p:cNvPr id="107" name="Text 105"/>
          <p:cNvSpPr/>
          <p:nvPr/>
        </p:nvSpPr>
        <p:spPr>
          <a:xfrm>
            <a:off x="4480560" y="4206240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40" dirty="0">
                <a:solidFill>
                  <a:srgbClr val="1F2937"/>
                </a:solidFill>
              </a:rPr>
              <a:t>1</a:t>
            </a:r>
            <a:endParaRPr lang="en-US" sz="840" dirty="0"/>
          </a:p>
        </p:txBody>
      </p:sp>
      <p:sp>
        <p:nvSpPr>
          <p:cNvPr id="108" name="Shape 106"/>
          <p:cNvSpPr/>
          <p:nvPr/>
        </p:nvSpPr>
        <p:spPr>
          <a:xfrm>
            <a:off x="5349240" y="4041648"/>
            <a:ext cx="2011680" cy="576072"/>
          </a:xfrm>
          <a:prstGeom prst="rect">
            <a:avLst/>
          </a:prstGeom>
          <a:solidFill>
            <a:srgbClr val="FFFFFF"/>
          </a:solidFill>
          <a:ln w="5715">
            <a:solidFill>
              <a:srgbClr val="D9E1EA"/>
            </a:solidFill>
            <a:prstDash val="solid"/>
          </a:ln>
        </p:spPr>
      </p:sp>
      <p:sp>
        <p:nvSpPr>
          <p:cNvPr id="109" name="Text 107"/>
          <p:cNvSpPr/>
          <p:nvPr/>
        </p:nvSpPr>
        <p:spPr>
          <a:xfrm>
            <a:off x="5394960" y="4206240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40" dirty="0">
                <a:solidFill>
                  <a:srgbClr val="1F2937"/>
                </a:solidFill>
              </a:rPr>
              <a:t>Dangerous heat</a:t>
            </a:r>
            <a:endParaRPr lang="en-US" sz="840" dirty="0"/>
          </a:p>
        </p:txBody>
      </p:sp>
      <p:sp>
        <p:nvSpPr>
          <p:cNvPr id="110" name="Shape 108"/>
          <p:cNvSpPr/>
          <p:nvPr/>
        </p:nvSpPr>
        <p:spPr>
          <a:xfrm>
            <a:off x="7543800" y="4041648"/>
            <a:ext cx="1645920" cy="576072"/>
          </a:xfrm>
          <a:prstGeom prst="rect">
            <a:avLst/>
          </a:prstGeom>
          <a:solidFill>
            <a:srgbClr val="FFFFFF"/>
          </a:solidFill>
          <a:ln w="5715">
            <a:solidFill>
              <a:srgbClr val="D9E1EA"/>
            </a:solidFill>
            <a:prstDash val="solid"/>
          </a:ln>
        </p:spPr>
      </p:sp>
      <p:sp>
        <p:nvSpPr>
          <p:cNvPr id="111" name="Text 109"/>
          <p:cNvSpPr/>
          <p:nvPr/>
        </p:nvSpPr>
        <p:spPr>
          <a:xfrm>
            <a:off x="7589520" y="4206240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1D5F85"/>
                </a:solidFill>
              </a:rPr>
              <a:t>EMERGENCY</a:t>
            </a:r>
            <a:endParaRPr lang="en-US" sz="840" dirty="0"/>
          </a:p>
        </p:txBody>
      </p:sp>
      <p:sp>
        <p:nvSpPr>
          <p:cNvPr id="112" name="Shape 110"/>
          <p:cNvSpPr/>
          <p:nvPr/>
        </p:nvSpPr>
        <p:spPr>
          <a:xfrm>
            <a:off x="9281160" y="4041648"/>
            <a:ext cx="1828800" cy="576072"/>
          </a:xfrm>
          <a:prstGeom prst="rect">
            <a:avLst/>
          </a:prstGeom>
          <a:solidFill>
            <a:srgbClr val="FFFFFF"/>
          </a:solidFill>
          <a:ln w="5715">
            <a:solidFill>
              <a:srgbClr val="D9E1EA"/>
            </a:solidFill>
            <a:prstDash val="solid"/>
          </a:ln>
        </p:spPr>
      </p:sp>
      <p:sp>
        <p:nvSpPr>
          <p:cNvPr id="113" name="Text 111"/>
          <p:cNvSpPr/>
          <p:nvPr/>
        </p:nvSpPr>
        <p:spPr>
          <a:xfrm>
            <a:off x="9326880" y="4206240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40" dirty="0">
                <a:solidFill>
                  <a:srgbClr val="1F2937"/>
                </a:solidFill>
              </a:rPr>
              <a:t>Different threat category</a:t>
            </a:r>
            <a:endParaRPr lang="en-US" sz="840" dirty="0"/>
          </a:p>
        </p:txBody>
      </p:sp>
      <p:sp>
        <p:nvSpPr>
          <p:cNvPr id="114" name="Shape 112"/>
          <p:cNvSpPr/>
          <p:nvPr/>
        </p:nvSpPr>
        <p:spPr>
          <a:xfrm>
            <a:off x="621792" y="4617720"/>
            <a:ext cx="868680" cy="576072"/>
          </a:xfrm>
          <a:prstGeom prst="rect">
            <a:avLst/>
          </a:prstGeom>
          <a:solidFill>
            <a:srgbClr val="F8FAFC"/>
          </a:solidFill>
          <a:ln w="5715">
            <a:solidFill>
              <a:srgbClr val="D9E1EA"/>
            </a:solidFill>
            <a:prstDash val="solid"/>
          </a:ln>
        </p:spPr>
      </p:sp>
      <p:sp>
        <p:nvSpPr>
          <p:cNvPr id="115" name="Text 113"/>
          <p:cNvSpPr/>
          <p:nvPr/>
        </p:nvSpPr>
        <p:spPr>
          <a:xfrm>
            <a:off x="667512" y="4782312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40" dirty="0">
                <a:solidFill>
                  <a:srgbClr val="1F2937"/>
                </a:solidFill>
              </a:rPr>
              <a:t>Disarmed activity</a:t>
            </a:r>
            <a:endParaRPr lang="en-US" sz="840" dirty="0"/>
          </a:p>
        </p:txBody>
      </p:sp>
      <p:sp>
        <p:nvSpPr>
          <p:cNvPr id="116" name="Shape 114"/>
          <p:cNvSpPr/>
          <p:nvPr/>
        </p:nvSpPr>
        <p:spPr>
          <a:xfrm>
            <a:off x="1508760" y="4617720"/>
            <a:ext cx="731520" cy="576072"/>
          </a:xfrm>
          <a:prstGeom prst="rect">
            <a:avLst/>
          </a:prstGeom>
          <a:solidFill>
            <a:srgbClr val="F8FAFC"/>
          </a:solidFill>
          <a:ln w="5715">
            <a:solidFill>
              <a:srgbClr val="D9E1EA"/>
            </a:solidFill>
            <a:prstDash val="solid"/>
          </a:ln>
        </p:spPr>
      </p:sp>
      <p:sp>
        <p:nvSpPr>
          <p:cNvPr id="117" name="Text 115"/>
          <p:cNvSpPr/>
          <p:nvPr/>
        </p:nvSpPr>
        <p:spPr>
          <a:xfrm>
            <a:off x="1554480" y="4782312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40" dirty="0">
                <a:solidFill>
                  <a:srgbClr val="1F2937"/>
                </a:solidFill>
              </a:rPr>
              <a:t>0</a:t>
            </a:r>
            <a:endParaRPr lang="en-US" sz="840" dirty="0"/>
          </a:p>
        </p:txBody>
      </p:sp>
      <p:sp>
        <p:nvSpPr>
          <p:cNvPr id="118" name="Shape 116"/>
          <p:cNvSpPr/>
          <p:nvPr/>
        </p:nvSpPr>
        <p:spPr>
          <a:xfrm>
            <a:off x="2240280" y="4617720"/>
            <a:ext cx="731520" cy="576072"/>
          </a:xfrm>
          <a:prstGeom prst="rect">
            <a:avLst/>
          </a:prstGeom>
          <a:solidFill>
            <a:srgbClr val="F8FAFC"/>
          </a:solidFill>
          <a:ln w="5715">
            <a:solidFill>
              <a:srgbClr val="D9E1EA"/>
            </a:solidFill>
            <a:prstDash val="solid"/>
          </a:ln>
        </p:spPr>
      </p:sp>
      <p:sp>
        <p:nvSpPr>
          <p:cNvPr id="119" name="Text 117"/>
          <p:cNvSpPr/>
          <p:nvPr/>
        </p:nvSpPr>
        <p:spPr>
          <a:xfrm>
            <a:off x="2286000" y="4782312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40" dirty="0">
                <a:solidFill>
                  <a:srgbClr val="1F2937"/>
                </a:solidFill>
              </a:rPr>
              <a:t>1</a:t>
            </a:r>
            <a:endParaRPr lang="en-US" sz="840" dirty="0"/>
          </a:p>
        </p:txBody>
      </p:sp>
      <p:sp>
        <p:nvSpPr>
          <p:cNvPr id="120" name="Shape 118"/>
          <p:cNvSpPr/>
          <p:nvPr/>
        </p:nvSpPr>
        <p:spPr>
          <a:xfrm>
            <a:off x="2971800" y="4617720"/>
            <a:ext cx="731520" cy="576072"/>
          </a:xfrm>
          <a:prstGeom prst="rect">
            <a:avLst/>
          </a:prstGeom>
          <a:solidFill>
            <a:srgbClr val="F8FAFC"/>
          </a:solidFill>
          <a:ln w="5715">
            <a:solidFill>
              <a:srgbClr val="D9E1EA"/>
            </a:solidFill>
            <a:prstDash val="solid"/>
          </a:ln>
        </p:spPr>
      </p:sp>
      <p:sp>
        <p:nvSpPr>
          <p:cNvPr id="121" name="Text 119"/>
          <p:cNvSpPr/>
          <p:nvPr/>
        </p:nvSpPr>
        <p:spPr>
          <a:xfrm>
            <a:off x="3017520" y="4782312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40" dirty="0">
                <a:solidFill>
                  <a:srgbClr val="1F2937"/>
                </a:solidFill>
              </a:rPr>
              <a:t>1</a:t>
            </a:r>
            <a:endParaRPr lang="en-US" sz="840" dirty="0"/>
          </a:p>
        </p:txBody>
      </p:sp>
      <p:sp>
        <p:nvSpPr>
          <p:cNvPr id="122" name="Shape 120"/>
          <p:cNvSpPr/>
          <p:nvPr/>
        </p:nvSpPr>
        <p:spPr>
          <a:xfrm>
            <a:off x="3703320" y="4617720"/>
            <a:ext cx="731520" cy="576072"/>
          </a:xfrm>
          <a:prstGeom prst="rect">
            <a:avLst/>
          </a:prstGeom>
          <a:solidFill>
            <a:srgbClr val="F8FAFC"/>
          </a:solidFill>
          <a:ln w="5715">
            <a:solidFill>
              <a:srgbClr val="D9E1EA"/>
            </a:solidFill>
            <a:prstDash val="solid"/>
          </a:ln>
        </p:spPr>
      </p:sp>
      <p:sp>
        <p:nvSpPr>
          <p:cNvPr id="123" name="Text 121"/>
          <p:cNvSpPr/>
          <p:nvPr/>
        </p:nvSpPr>
        <p:spPr>
          <a:xfrm>
            <a:off x="3749040" y="4782312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40" dirty="0">
                <a:solidFill>
                  <a:srgbClr val="1F2937"/>
                </a:solidFill>
              </a:rPr>
              <a:t>0</a:t>
            </a:r>
            <a:endParaRPr lang="en-US" sz="840" dirty="0"/>
          </a:p>
        </p:txBody>
      </p:sp>
      <p:sp>
        <p:nvSpPr>
          <p:cNvPr id="124" name="Shape 122"/>
          <p:cNvSpPr/>
          <p:nvPr/>
        </p:nvSpPr>
        <p:spPr>
          <a:xfrm>
            <a:off x="4434840" y="4617720"/>
            <a:ext cx="868680" cy="576072"/>
          </a:xfrm>
          <a:prstGeom prst="rect">
            <a:avLst/>
          </a:prstGeom>
          <a:solidFill>
            <a:srgbClr val="F8FAFC"/>
          </a:solidFill>
          <a:ln w="5715">
            <a:solidFill>
              <a:srgbClr val="D9E1EA"/>
            </a:solidFill>
            <a:prstDash val="solid"/>
          </a:ln>
        </p:spPr>
      </p:sp>
      <p:sp>
        <p:nvSpPr>
          <p:cNvPr id="125" name="Text 123"/>
          <p:cNvSpPr/>
          <p:nvPr/>
        </p:nvSpPr>
        <p:spPr>
          <a:xfrm>
            <a:off x="4480560" y="4782312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40" dirty="0">
                <a:solidFill>
                  <a:srgbClr val="1F2937"/>
                </a:solidFill>
              </a:rPr>
              <a:t>0</a:t>
            </a:r>
            <a:endParaRPr lang="en-US" sz="840" dirty="0"/>
          </a:p>
        </p:txBody>
      </p:sp>
      <p:sp>
        <p:nvSpPr>
          <p:cNvPr id="126" name="Shape 124"/>
          <p:cNvSpPr/>
          <p:nvPr/>
        </p:nvSpPr>
        <p:spPr>
          <a:xfrm>
            <a:off x="5349240" y="4617720"/>
            <a:ext cx="2011680" cy="576072"/>
          </a:xfrm>
          <a:prstGeom prst="rect">
            <a:avLst/>
          </a:prstGeom>
          <a:solidFill>
            <a:srgbClr val="F8FAFC"/>
          </a:solidFill>
          <a:ln w="5715">
            <a:solidFill>
              <a:srgbClr val="D9E1EA"/>
            </a:solidFill>
            <a:prstDash val="solid"/>
          </a:ln>
        </p:spPr>
      </p:sp>
      <p:sp>
        <p:nvSpPr>
          <p:cNvPr id="127" name="Text 125"/>
          <p:cNvSpPr/>
          <p:nvPr/>
        </p:nvSpPr>
        <p:spPr>
          <a:xfrm>
            <a:off x="5394960" y="4782312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40" dirty="0">
                <a:solidFill>
                  <a:srgbClr val="1F2937"/>
                </a:solidFill>
              </a:rPr>
              <a:t>Normal activity</a:t>
            </a:r>
            <a:endParaRPr lang="en-US" sz="840" dirty="0"/>
          </a:p>
        </p:txBody>
      </p:sp>
      <p:sp>
        <p:nvSpPr>
          <p:cNvPr id="128" name="Shape 126"/>
          <p:cNvSpPr/>
          <p:nvPr/>
        </p:nvSpPr>
        <p:spPr>
          <a:xfrm>
            <a:off x="7543800" y="4617720"/>
            <a:ext cx="1645920" cy="576072"/>
          </a:xfrm>
          <a:prstGeom prst="rect">
            <a:avLst/>
          </a:prstGeom>
          <a:solidFill>
            <a:srgbClr val="F8FAFC"/>
          </a:solidFill>
          <a:ln w="5715">
            <a:solidFill>
              <a:srgbClr val="D9E1EA"/>
            </a:solidFill>
            <a:prstDash val="solid"/>
          </a:ln>
        </p:spPr>
      </p:sp>
      <p:sp>
        <p:nvSpPr>
          <p:cNvPr id="129" name="Text 127"/>
          <p:cNvSpPr/>
          <p:nvPr/>
        </p:nvSpPr>
        <p:spPr>
          <a:xfrm>
            <a:off x="7589520" y="4782312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3B8064"/>
                </a:solidFill>
              </a:rPr>
              <a:t>SAFE*</a:t>
            </a:r>
            <a:endParaRPr lang="en-US" sz="840" dirty="0"/>
          </a:p>
        </p:txBody>
      </p:sp>
      <p:sp>
        <p:nvSpPr>
          <p:cNvPr id="130" name="Shape 128"/>
          <p:cNvSpPr/>
          <p:nvPr/>
        </p:nvSpPr>
        <p:spPr>
          <a:xfrm>
            <a:off x="9281160" y="4617720"/>
            <a:ext cx="1828800" cy="576072"/>
          </a:xfrm>
          <a:prstGeom prst="rect">
            <a:avLst/>
          </a:prstGeom>
          <a:solidFill>
            <a:srgbClr val="F8FAFC"/>
          </a:solidFill>
          <a:ln w="5715">
            <a:solidFill>
              <a:srgbClr val="D9E1EA"/>
            </a:solidFill>
            <a:prstDash val="solid"/>
          </a:ln>
        </p:spPr>
      </p:sp>
      <p:sp>
        <p:nvSpPr>
          <p:cNvPr id="131" name="Text 129"/>
          <p:cNvSpPr/>
          <p:nvPr/>
        </p:nvSpPr>
        <p:spPr>
          <a:xfrm>
            <a:off x="9326880" y="4782312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40" dirty="0">
                <a:solidFill>
                  <a:srgbClr val="1F2937"/>
                </a:solidFill>
              </a:rPr>
              <a:t>Security response disabled</a:t>
            </a:r>
            <a:endParaRPr lang="en-US" sz="840" dirty="0"/>
          </a:p>
        </p:txBody>
      </p:sp>
      <p:sp>
        <p:nvSpPr>
          <p:cNvPr id="132" name="Text 130"/>
          <p:cNvSpPr/>
          <p:nvPr/>
        </p:nvSpPr>
        <p:spPr>
          <a:xfrm>
            <a:off x="658368" y="5440680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i="1" dirty="0">
                <a:solidFill>
                  <a:srgbClr val="667085"/>
                </a:solidFill>
              </a:rPr>
              <a:t>* Exact disarmed behavior follows the final truth table / logic implemented in the submitted circuit.</a:t>
            </a:r>
            <a:endParaRPr lang="en-US" sz="880" dirty="0"/>
          </a:p>
        </p:txBody>
      </p:sp>
      <p:sp>
        <p:nvSpPr>
          <p:cNvPr id="133" name="Shape 131"/>
          <p:cNvSpPr/>
          <p:nvPr/>
        </p:nvSpPr>
        <p:spPr>
          <a:xfrm>
            <a:off x="8759952" y="5074920"/>
            <a:ext cx="2743200" cy="777240"/>
          </a:xfrm>
          <a:prstGeom prst="roundRect">
            <a:avLst>
              <a:gd name="adj" fmla="val 9412"/>
            </a:avLst>
          </a:prstGeom>
          <a:solidFill>
            <a:srgbClr val="FFF4DF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134" name="Shape 132"/>
          <p:cNvSpPr/>
          <p:nvPr/>
        </p:nvSpPr>
        <p:spPr>
          <a:xfrm>
            <a:off x="8759952" y="5074920"/>
            <a:ext cx="73152" cy="777240"/>
          </a:xfrm>
          <a:prstGeom prst="rect">
            <a:avLst/>
          </a:prstGeom>
          <a:solidFill>
            <a:srgbClr val="E7A33E"/>
          </a:solidFill>
          <a:ln w="12700">
            <a:solidFill>
              <a:srgbClr val="E7A33E"/>
            </a:solidFill>
            <a:prstDash val="solid"/>
          </a:ln>
        </p:spPr>
      </p:sp>
      <p:sp>
        <p:nvSpPr>
          <p:cNvPr id="135" name="Text 133"/>
          <p:cNvSpPr/>
          <p:nvPr/>
        </p:nvSpPr>
        <p:spPr>
          <a:xfrm>
            <a:off x="8961120" y="5221224"/>
            <a:ext cx="2423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324A"/>
                </a:solidFill>
              </a:rPr>
              <a:t>Evidence to insert</a:t>
            </a:r>
            <a:endParaRPr lang="en-US" sz="1400" dirty="0"/>
          </a:p>
        </p:txBody>
      </p:sp>
      <p:sp>
        <p:nvSpPr>
          <p:cNvPr id="136" name="Text 134"/>
          <p:cNvSpPr/>
          <p:nvPr/>
        </p:nvSpPr>
        <p:spPr>
          <a:xfrm>
            <a:off x="8961120" y="5550408"/>
            <a:ext cx="242316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</a:rPr>
              <a:t>Replace / supplement this slide with your actual Logisim screenshot and final truth table before submission.</a:t>
            </a:r>
            <a:endParaRPr lang="en-US" sz="1100" dirty="0"/>
          </a:p>
        </p:txBody>
      </p:sp>
      <p:sp>
        <p:nvSpPr>
          <p:cNvPr id="137" name="Text 135"/>
          <p:cNvSpPr/>
          <p:nvPr/>
        </p:nvSpPr>
        <p:spPr>
          <a:xfrm>
            <a:off x="658368" y="5907024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1D5F85"/>
                </a:solidFill>
              </a:rPr>
              <a:t>Discussion: the key result is not merely “alarm ON”; it is the distinction between different conditions using combined inputs.</a:t>
            </a:r>
            <a:endParaRPr lang="en-US" sz="10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41908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1809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38912"/>
            <a:ext cx="9875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32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10. Conclusion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85216" y="905256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</a:rPr>
              <a:t>What the project achieves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9281160" y="475488"/>
            <a:ext cx="1965960" cy="347472"/>
          </a:xfrm>
          <a:prstGeom prst="roundRect">
            <a:avLst>
              <a:gd name="adj" fmla="val 21053"/>
            </a:avLst>
          </a:prstGeom>
          <a:solidFill>
            <a:srgbClr val="EAF3F8"/>
          </a:solidFill>
          <a:ln w="12700">
            <a:solidFill>
              <a:srgbClr val="EAF3F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354312" y="562356"/>
            <a:ext cx="18196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D5F85"/>
                </a:solidFill>
              </a:rPr>
              <a:t>CONCLUSION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85800" y="132588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4324A"/>
                </a:solidFill>
              </a:rPr>
              <a:t>We converted a real-world security problem into a deterministic digital decision system.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694944" y="2029968"/>
            <a:ext cx="1417320" cy="347472"/>
          </a:xfrm>
          <a:prstGeom prst="roundRect">
            <a:avLst>
              <a:gd name="adj" fmla="val 21053"/>
            </a:avLst>
          </a:prstGeom>
          <a:solidFill>
            <a:srgbClr val="EAF3F8"/>
          </a:solidFill>
          <a:ln w="12700">
            <a:solidFill>
              <a:srgbClr val="EAF3F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68096" y="2116836"/>
            <a:ext cx="12710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D5F85"/>
                </a:solidFill>
              </a:rPr>
              <a:t>Problem addressed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2331720" y="2057400"/>
            <a:ext cx="905256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</a:rPr>
              <a:t>A simple “any sensor → alarm” approach does not distinguish ordinary activity from stronger evidence of intrusion or a different emergency.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94944" y="2788920"/>
            <a:ext cx="1417320" cy="347472"/>
          </a:xfrm>
          <a:prstGeom prst="roundRect">
            <a:avLst>
              <a:gd name="adj" fmla="val 21053"/>
            </a:avLst>
          </a:prstGeom>
          <a:solidFill>
            <a:srgbClr val="FFF4DF"/>
          </a:solidFill>
          <a:ln w="12700">
            <a:solidFill>
              <a:srgbClr val="FFF4D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68096" y="2875788"/>
            <a:ext cx="12710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8B5B00"/>
                </a:solidFill>
              </a:rPr>
              <a:t>What we changed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331720" y="2816352"/>
            <a:ext cx="905256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</a:rPr>
              <a:t>We introduced rule-based multi-condition classification using the armed state and several sensor signals.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94944" y="3547872"/>
            <a:ext cx="1417320" cy="347472"/>
          </a:xfrm>
          <a:prstGeom prst="roundRect">
            <a:avLst>
              <a:gd name="adj" fmla="val 21053"/>
            </a:avLst>
          </a:prstGeom>
          <a:solidFill>
            <a:srgbClr val="E9F5EF"/>
          </a:solidFill>
          <a:ln w="12700">
            <a:solidFill>
              <a:srgbClr val="E9F5E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68096" y="3634740"/>
            <a:ext cx="12710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B8064"/>
                </a:solidFill>
              </a:rPr>
              <a:t>What we demonstrated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331720" y="3575304"/>
            <a:ext cx="905256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</a:rPr>
              <a:t>The rules can be represented with Boolean logic and implemented as a one-zone circuit in Logisim.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94944" y="4306824"/>
            <a:ext cx="1417320" cy="347472"/>
          </a:xfrm>
          <a:prstGeom prst="roundRect">
            <a:avLst>
              <a:gd name="adj" fmla="val 21053"/>
            </a:avLst>
          </a:prstGeom>
          <a:solidFill>
            <a:srgbClr val="FBEAEA"/>
          </a:solidFill>
          <a:ln w="12700">
            <a:solidFill>
              <a:srgbClr val="FBEAE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68096" y="4393692"/>
            <a:ext cx="12710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94747"/>
                </a:solidFill>
              </a:rPr>
              <a:t>What it is not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2331720" y="4334256"/>
            <a:ext cx="905256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</a:rPr>
              <a:t>It is not AI, machine learning, IoT, phone-connected automation, or a physical sensor system.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94944" y="5065776"/>
            <a:ext cx="1417320" cy="347472"/>
          </a:xfrm>
          <a:prstGeom prst="roundRect">
            <a:avLst>
              <a:gd name="adj" fmla="val 21053"/>
            </a:avLst>
          </a:prstGeom>
          <a:solidFill>
            <a:srgbClr val="EAF3F8"/>
          </a:solidFill>
          <a:ln w="12700">
            <a:solidFill>
              <a:srgbClr val="EAF3F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68096" y="5152644"/>
            <a:ext cx="12710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D5F85"/>
                </a:solidFill>
              </a:rPr>
              <a:t>How it scales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2331720" y="5093208"/>
            <a:ext cx="905256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</a:rPr>
              <a:t>The same zone-level logic can be replicated and combined to form a larger multi-zone system.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704088" y="5870448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324A"/>
                </a:solidFill>
              </a:rPr>
              <a:t>Core takeaway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2331720" y="5815584"/>
            <a:ext cx="5943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D5F85"/>
                </a:solidFill>
              </a:rPr>
              <a:t>Inputs → conditions → situation → alarm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41908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1809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38912"/>
            <a:ext cx="9875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32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References &amp; Submission Notes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85216" y="905256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</a:rPr>
              <a:t>Use these as background references; add course-specific sources used by your team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9189720" y="475488"/>
            <a:ext cx="2057400" cy="347472"/>
          </a:xfrm>
          <a:prstGeom prst="roundRect">
            <a:avLst>
              <a:gd name="adj" fmla="val 21053"/>
            </a:avLst>
          </a:prstGeom>
          <a:solidFill>
            <a:srgbClr val="EAF3F8"/>
          </a:solidFill>
          <a:ln w="12700">
            <a:solidFill>
              <a:srgbClr val="EAF3F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262872" y="562356"/>
            <a:ext cx="19110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D5F85"/>
                </a:solidFill>
              </a:rPr>
              <a:t>REFERENCES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58368" y="1371600"/>
            <a:ext cx="530352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58368" y="1371600"/>
            <a:ext cx="73152" cy="1920240"/>
          </a:xfrm>
          <a:prstGeom prst="rect">
            <a:avLst/>
          </a:prstGeom>
          <a:solidFill>
            <a:srgbClr val="1D5F85"/>
          </a:solidFill>
          <a:ln w="12700">
            <a:solidFill>
              <a:srgbClr val="1D5F8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59536" y="1517904"/>
            <a:ext cx="4983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324A"/>
                </a:solidFill>
              </a:rPr>
              <a:t>Digital logic foundations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59536" y="1847088"/>
            <a:ext cx="4983480" cy="1325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</a:rPr>
              <a:t>1. M. Morris Mano &amp; Michael D. Ciletti, Digital Design: With an Introduction to the Verilog HDL.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</a:rPr>
              <a:t>2. Thomas L. Floyd, Digital Fundamentals.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</a:rPr>
              <a:t>Use your prescribed textbook / lecture notes as the primary academic source for Boolean logic, combinational circuits, and truth tables.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199632" y="1371600"/>
            <a:ext cx="530352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199632" y="1371600"/>
            <a:ext cx="73152" cy="1920240"/>
          </a:xfrm>
          <a:prstGeom prst="rect">
            <a:avLst/>
          </a:prstGeom>
          <a:solidFill>
            <a:srgbClr val="2BA8C6"/>
          </a:solidFill>
          <a:ln w="12700">
            <a:solidFill>
              <a:srgbClr val="2BA8C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0" y="1517904"/>
            <a:ext cx="4983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324A"/>
                </a:solidFill>
              </a:rPr>
              <a:t>Security / sensor-combination background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400800" y="1847088"/>
            <a:ext cx="4983480" cy="1325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</a:rPr>
              <a:t>Use introductory references on intrusion detection, alarm systems, and sensor fusion to motivate the design. Keep the literature discussion proportional to a first-year project; the main contribution is the circuit implementation.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58368" y="3657600"/>
            <a:ext cx="10835640" cy="1508760"/>
          </a:xfrm>
          <a:prstGeom prst="roundRect">
            <a:avLst>
              <a:gd name="adj" fmla="val 4848"/>
            </a:avLst>
          </a:prstGeom>
          <a:solidFill>
            <a:srgbClr val="FFF4DF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58368" y="3657600"/>
            <a:ext cx="73152" cy="1508760"/>
          </a:xfrm>
          <a:prstGeom prst="rect">
            <a:avLst/>
          </a:prstGeom>
          <a:solidFill>
            <a:srgbClr val="E7A33E"/>
          </a:solidFill>
          <a:ln w="12700">
            <a:solidFill>
              <a:srgbClr val="E7A33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59536" y="3803904"/>
            <a:ext cx="10515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324A"/>
                </a:solidFill>
              </a:rPr>
              <a:t>Before final submission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59536" y="4133088"/>
            <a:ext cx="10515600" cy="9144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</a:rPr>
              <a:t>Replace the name/roll-number placeholders. Insert your actual Logisim circuit screenshot. Replace the representative result table with the final verified test cases / truth table from your circuit. Ensure terminology exactly matches your implemented logic, especially the behavior when the system is disarmed.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343400" y="5623560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4324A"/>
                </a:solidFill>
              </a:rPr>
              <a:t>Thank you</a:t>
            </a: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41908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1809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Academic Project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Design and Simulation of a Smart Home Security System</dc:title>
  <dc:subject>Digital Design and Circuit Analysis Project</dc:subject>
  <dc:creator>OpenAI</dc:creator>
  <cp:lastModifiedBy>OpenAI</cp:lastModifiedBy>
  <cp:revision>1</cp:revision>
  <dcterms:created xsi:type="dcterms:W3CDTF">2026-09-11T19:16:35Z</dcterms:created>
  <dcterms:modified xsi:type="dcterms:W3CDTF">2026-09-11T19:16:35Z</dcterms:modified>
</cp:coreProperties>
</file>