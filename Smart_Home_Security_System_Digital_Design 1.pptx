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52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DESIGN &amp; CIRCUIT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64739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Home Security System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772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DIGITAL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CIRCUIT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" y="2743200"/>
            <a:ext cx="2377440" cy="0"/>
          </a:xfrm>
          <a:prstGeom prst="line">
            <a:avLst/>
          </a:prstGeom>
          <a:noFill/>
          <a:ln w="31750">
            <a:solidFill>
              <a:srgbClr val="2BA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0632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EEF6"/>
                </a:solidFill>
              </a:rPr>
              <a:t>ONE-ZONE RULE-BASED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9EEF6"/>
                </a:solidFill>
              </a:rPr>
              <a:t>SECURITY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234440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and Simulation of a Smart Home Security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70832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A digital-logic-based approach to combining security sensor conditions and classifying situations as Safe, Warning, Intrusion, or Emergency.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3657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3744468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Logisim Simulation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16752" y="36576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9F5EF"/>
          </a:solidFill>
          <a:ln w="12700">
            <a:solidFill>
              <a:srgbClr val="E9F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374446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064"/>
                </a:solidFill>
              </a:rPr>
              <a:t>AND / OR / NOT Logic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45552" y="3657600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8704" y="374446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B00"/>
                </a:solidFill>
              </a:rPr>
              <a:t>Single Security Zone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4617720"/>
            <a:ext cx="6629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667085"/>
                </a:solidFill>
              </a:rPr>
              <a:t>Student Names &amp; Roll Numbers: [</a:t>
            </a:r>
            <a:r>
              <a:rPr lang="en-IN" sz="1400" dirty="0"/>
              <a:t>2620030388- Sai Sahasra</a:t>
            </a:r>
            <a:r>
              <a:rPr lang="en-US" sz="1300" dirty="0">
                <a:solidFill>
                  <a:srgbClr val="667085"/>
                </a:solidFill>
              </a:rPr>
              <a:t>]  |  [</a:t>
            </a:r>
            <a:r>
              <a:rPr lang="en-IN" sz="1400" dirty="0"/>
              <a:t>2620030386_Varshitha</a:t>
            </a:r>
            <a:r>
              <a:rPr lang="en-US" sz="1300" dirty="0">
                <a:solidFill>
                  <a:srgbClr val="667085"/>
                </a:solidFill>
              </a:rPr>
              <a:t>] | [</a:t>
            </a:r>
            <a:r>
              <a:rPr lang="en-IN" sz="1400" dirty="0"/>
              <a:t>2620030432_Harsha</a:t>
            </a:r>
            <a:r>
              <a:rPr lang="en-IN" sz="1400" dirty="0">
                <a:solidFill>
                  <a:srgbClr val="667085"/>
                </a:solidFill>
              </a:rPr>
              <a:t>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Background, domain overview, and why the problem matters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29800" y="47548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2952" y="5623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CONTEXT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73152" cy="182880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The real-world setting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home security zone contains several signals that describe what is happening: door status, motion, forced entry, heat, and whether the system is armed.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The design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sensor signal is often ambiguous by itself. The useful question is not just “did a sensor trigger?” but “what situation do these signals describe together?”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371600"/>
            <a:ext cx="73152" cy="1828800"/>
          </a:xfrm>
          <a:prstGeom prst="rect">
            <a:avLst/>
          </a:prstGeom>
          <a:solidFill>
            <a:srgbClr val="3B8064"/>
          </a:solidFill>
          <a:ln w="12700">
            <a:solidFill>
              <a:srgbClr val="3B8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Our project focus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5048" y="1847088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We implement a small, rule-based decision system in digital logic that turns a combination of binary inputs into a security classification and final alarm condition.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Think of the circuit as a tiny security decision-maker: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</a:rPr>
              <a:t>Sensors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4884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</a:rPr>
              <a:t>System state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6052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5488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</a:rPr>
              <a:t>Conditions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656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</a:rPr>
              <a:t>Situation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4663440"/>
            <a:ext cx="594360" cy="0"/>
          </a:xfrm>
          <a:prstGeom prst="line">
            <a:avLst/>
          </a:prstGeom>
          <a:noFill/>
          <a:ln w="2540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778240" y="43434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5139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Alarm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5F85"/>
                </a:solidFill>
              </a:rPr>
              <a:t>The “smart” part is the rule-based interpretation — not AI or machine learning.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Why a simple sensor-to-alarm rule is not enough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921240" y="475488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56235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Basic idea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7830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F0C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4747"/>
                </a:solidFill>
              </a:rPr>
              <a:t>Sensor triggered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94747"/>
                </a:solidFill>
              </a:rPr>
              <a:t>→ immediate alarm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6492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417320"/>
            <a:ext cx="73152" cy="1737360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563624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Why this can be limiting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1892808"/>
            <a:ext cx="61722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A door opening can be normal activity, not necessarily an intrusion.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Motion alone does not always explain why the motion occurred.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Forced entry and dangerous heat represent different kinds of threats.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Treating every event identically loses useful context.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24A"/>
                </a:solidFill>
              </a:rPr>
              <a:t>What the project asks instead: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096512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096512"/>
            <a:ext cx="73152" cy="155448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2428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What happened?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Door / Motion / Forced Entry / Heat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07408" y="4096512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4096512"/>
            <a:ext cx="73152" cy="155448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42428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What is the system state?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8576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Armed or Disarmed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6448" y="4096512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4096512"/>
            <a:ext cx="73152" cy="1554480"/>
          </a:xfrm>
          <a:prstGeom prst="rect">
            <a:avLst/>
          </a:prstGeom>
          <a:solidFill>
            <a:srgbClr val="3B8064"/>
          </a:solidFill>
          <a:ln w="12700">
            <a:solidFill>
              <a:srgbClr val="3B8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42428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How serious is it?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57616" y="4572000"/>
            <a:ext cx="3108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Safe / Warning / Intrusion / Emergency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Specific goals of the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37260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4575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OBJECTIVES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7592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Model one security zone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Represent the armed state and four sensor inputs as binary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02352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Classify situations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9432" y="207568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Distinguish Safe, Warning, Intrusion, and Emergency conditions.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11312" y="14173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97112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Use multi-condition logic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94192" y="207568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Combine sensor states instead of treating every trigger identically.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" y="34290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07592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Implement digitally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408736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Translate the rules into Boolean logic and gates in Logisim.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16552" y="34290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02352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Validate behavior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99432" y="408736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Test representative combinations and verify the resulting outputs.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11312" y="342900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A8C6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97112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Keep the design extensible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94192" y="4087368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Show how the same zone logic could later be replicated for multiple zones.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Literature Survey / Existing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Common approaches and the gap addressed by our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8116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431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EXISTING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927080" cy="502920"/>
          </a:xfrm>
          <a:prstGeom prst="roundRect">
            <a:avLst>
              <a:gd name="adj" fmla="val 7273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453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5453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Basic idea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1545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 / observation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109270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67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324A"/>
                </a:solidFill>
              </a:rPr>
              <a:t>Conventional trigger-based alarm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139696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Individual sensor activation can directly trigger an alarm.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52360" y="2139696"/>
            <a:ext cx="3657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Simple and easy to implement, but context is limited.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18688"/>
            <a:ext cx="10927080" cy="105156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4472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324A"/>
                </a:solidFill>
              </a:rPr>
              <a:t>Zoned security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419856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Sensors are grouped by protected areas and monitored by a control panel.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52360" y="3419856"/>
            <a:ext cx="3657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Better organization, but the decision rules may still be relatively simple.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498848"/>
            <a:ext cx="109270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727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324A"/>
                </a:solidFill>
              </a:rPr>
              <a:t>Multi-sensor / sensor-fusion approaches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4700016"/>
            <a:ext cx="3200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Several measurements are combined to improve situation awareness.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52360" y="4700016"/>
            <a:ext cx="3657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More informative, but often much more complex than a first-year logic circuit.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5897880"/>
            <a:ext cx="10881360" cy="438912"/>
          </a:xfrm>
          <a:prstGeom prst="roundRect">
            <a:avLst>
              <a:gd name="adj" fmla="val 16667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5897880"/>
            <a:ext cx="73152" cy="438912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6044184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Position of our project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6373368"/>
            <a:ext cx="105613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We are not claiming a new commercial security technology; we demonstrate a small, rule-based multi-condition classifier using digital logic.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Proposed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From raw binary inputs to a meaningful security state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8972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6287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PROPOSED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928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8366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Armed / Disarmed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450592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59689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Door Open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3163824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192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31012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Motion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877056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3250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Forced Entry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590288"/>
            <a:ext cx="2423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457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5F85"/>
                </a:solidFill>
              </a:rPr>
              <a:t>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473659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Heat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1481328"/>
            <a:ext cx="3840480" cy="3246120"/>
          </a:xfrm>
          <a:prstGeom prst="roundRect">
            <a:avLst>
              <a:gd name="adj" fmla="val 2817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193852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RULE-BASED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LOGIC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96512" y="2880360"/>
            <a:ext cx="2926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CE8EF"/>
                </a:solidFill>
              </a:rPr>
              <a:t>Combines armed state + sensor conditions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DCE8EF"/>
                </a:solidFill>
              </a:rPr>
              <a:t>to classify the current situation.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17720" y="3730752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81762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AND / OR / NOT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81528" y="2002536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81528" y="2715768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81528" y="3429000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081528" y="4142232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81528" y="4855464"/>
            <a:ext cx="576072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001000" y="1216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9F5E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1353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064"/>
                </a:solidFill>
              </a:rPr>
              <a:t>SAFE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491472" y="1344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Routine / no active threat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498080" y="1645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01000" y="2359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1312" y="2496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A33E"/>
                </a:solidFill>
              </a:rPr>
              <a:t>WARNING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91472" y="2487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Relevant event, not yet intrusion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498080" y="2788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01000" y="3502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3639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747"/>
                </a:solidFill>
              </a:rPr>
              <a:t>INTRUSION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491472" y="3630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Strong evidence of unauthorized entry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7498080" y="3931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01000" y="4645152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4782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</a:rPr>
              <a:t>EMERGENCY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491472" y="4773168"/>
            <a:ext cx="1691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F2937"/>
                </a:solidFill>
              </a:rPr>
              <a:t>Heat-related emergency condition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7498080" y="5074920"/>
            <a:ext cx="50292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8183880" y="5806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Final alarm condition is derived from the applicable higher-severity security state.</a:t>
            </a:r>
            <a:endParaRPr lang="en-US" sz="10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System Architecture / Block Diagram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Signal flow for one security zone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052560" y="47548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25712" y="56235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Zone Inputs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379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5F85"/>
                </a:solidFill>
              </a:rPr>
              <a:t>ARMED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82496" y="185623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System state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16352" y="2020824"/>
            <a:ext cx="886968" cy="163677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514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615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BA8C6"/>
                </a:solidFill>
              </a:rPr>
              <a:t>DOOR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82496" y="26334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Door sensor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16352" y="2798064"/>
            <a:ext cx="886968" cy="85953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" y="329184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3924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BA8C6"/>
                </a:solidFill>
              </a:rPr>
              <a:t>MOTION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82496" y="34107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Motion sensor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16352" y="3575304"/>
            <a:ext cx="886968" cy="82296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" y="406908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4169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94747"/>
                </a:solidFill>
              </a:rPr>
              <a:t>FORCED ENTRY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82496" y="418795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Intrusion sensor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16352" y="4352544"/>
            <a:ext cx="886968" cy="0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58368" y="484632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946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E7A33E"/>
                </a:solidFill>
              </a:rPr>
              <a:t>HEAT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82496" y="496519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Heat sensor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16352" y="5129784"/>
            <a:ext cx="886968" cy="0"/>
          </a:xfrm>
          <a:prstGeom prst="line">
            <a:avLst/>
          </a:prstGeom>
          <a:noFill/>
          <a:ln w="1651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03320" y="1920240"/>
            <a:ext cx="36576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651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87368" y="22128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24A"/>
                </a:solidFill>
              </a:rPr>
              <a:t>Condition &amp; State Logic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114800" y="2788920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2889504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8B5B00"/>
                </a:solidFill>
              </a:rPr>
              <a:t>Warning path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248656" y="288036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Armed + Door Open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114800" y="3346704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344728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94747"/>
                </a:solidFill>
              </a:rPr>
              <a:t>Intrusion path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248656" y="343814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Armed + Door + Motion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114800" y="3904488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4005072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94747"/>
                </a:solidFill>
              </a:rPr>
              <a:t>Intrusion path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248656" y="399592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Forced Entry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4114800" y="4462272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4528" y="4562856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D5F85"/>
                </a:solidFill>
              </a:rPr>
              <a:t>Emergency path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248656" y="455371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Heat condition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096512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085"/>
                </a:solidFill>
              </a:rPr>
              <a:t>Boolean gates implement the conditions above; the classification logic then feeds the alarm output.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412480" y="1965960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E9F5E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1080" y="2167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064"/>
                </a:solidFill>
              </a:rPr>
              <a:t>SAFE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21824" y="2176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7360920" y="2286000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412480" y="2907792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41080" y="31089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B00"/>
                </a:solidFill>
              </a:rPr>
              <a:t>WARNING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21824" y="311810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7360920" y="3227832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412480" y="3849624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FBEA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41080" y="40507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4747"/>
                </a:solidFill>
              </a:rPr>
              <a:t>INTRUSION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021824" y="405993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7360920" y="4169664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412480" y="4791456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41080" y="4992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85"/>
                </a:solidFill>
              </a:rPr>
              <a:t>EMERGENCY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021824" y="50017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67085"/>
                </a:solidFill>
              </a:rPr>
              <a:t>State output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7360920" y="5111496"/>
            <a:ext cx="1051560" cy="0"/>
          </a:xfrm>
          <a:prstGeom prst="line">
            <a:avLst/>
          </a:prstGeom>
          <a:noFill/>
          <a:ln w="20320">
            <a:solidFill>
              <a:srgbClr val="1D5F85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732520" y="5669280"/>
            <a:ext cx="2194560" cy="475488"/>
          </a:xfrm>
          <a:prstGeom prst="roundRect">
            <a:avLst>
              <a:gd name="adj" fmla="val 9615"/>
            </a:avLst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87968" y="5815584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ALARM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848088" y="5431536"/>
            <a:ext cx="0" cy="237744"/>
          </a:xfrm>
          <a:prstGeom prst="line">
            <a:avLst/>
          </a:prstGeom>
          <a:noFill/>
          <a:ln w="19050">
            <a:solidFill>
              <a:srgbClr val="14324A"/>
            </a:solidFill>
            <a:prstDash val="solid"/>
            <a:headEnd type="none"/>
            <a:tailEnd type="triangle"/>
          </a:ln>
        </p:spPr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Methodology /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How the real-world requirement becomes a digital circuit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646920" y="47548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0072" y="5623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07592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08176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307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24A"/>
                </a:solidFill>
              </a:rPr>
              <a:t>Define inputs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03320" y="1298448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Armed, Door, Motion, Forced Entry, Heat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" y="1709928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057400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57984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2057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24A"/>
                </a:solidFill>
              </a:rPr>
              <a:t>Define states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2048256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Safe, Warning, Intrusion, Emergency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" y="2459736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07208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07792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28072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24A"/>
                </a:solidFill>
              </a:rPr>
              <a:t>Write rules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03320" y="2798064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Describe which input combinations correspond to each state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" y="3209544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557016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57600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3557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24A"/>
                </a:solidFill>
              </a:rPr>
              <a:t>Translate to Boolean logic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03320" y="3547872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Use AND, OR, and NOT to implement the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" y="3959352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306824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407408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61872" y="4306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24A"/>
                </a:solidFill>
              </a:rPr>
              <a:t>Build in Logisim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03320" y="4297680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Connect gates and outputs for one security zone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9536" y="4709160"/>
            <a:ext cx="0" cy="356616"/>
          </a:xfrm>
          <a:prstGeom prst="line">
            <a:avLst/>
          </a:prstGeom>
          <a:noFill/>
          <a:ln w="1778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5056632"/>
            <a:ext cx="393192" cy="393192"/>
          </a:xfrm>
          <a:prstGeom prst="ellipse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157216"/>
            <a:ext cx="393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1872" y="5056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24A"/>
                </a:solidFill>
              </a:rPr>
              <a:t>Test combinations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703320" y="5047488"/>
            <a:ext cx="7223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Verify representative scenarios and edge cases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" y="5815584"/>
            <a:ext cx="10835640" cy="438912"/>
          </a:xfrm>
          <a:prstGeom prst="roundRect">
            <a:avLst>
              <a:gd name="adj" fmla="val 16667"/>
            </a:avLst>
          </a:prstGeom>
          <a:solidFill>
            <a:srgbClr val="EAF3F8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815584"/>
            <a:ext cx="73152" cy="438912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96188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Key principle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6291072"/>
            <a:ext cx="1051560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The circuit is deterministic: the same input combination always produces the same classification.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Results and Discussion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Representative test cases and expected circuit behavior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582912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6064" y="56235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325880"/>
            <a:ext cx="868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5389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0876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533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4028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685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7180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03320" y="1325880"/>
            <a:ext cx="7315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145389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34840" y="1325880"/>
            <a:ext cx="868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1453896"/>
            <a:ext cx="795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49240" y="1325880"/>
            <a:ext cx="201168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453896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43800" y="1325880"/>
            <a:ext cx="164592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453896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Expected state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281160" y="1325880"/>
            <a:ext cx="1828800" cy="411480"/>
          </a:xfrm>
          <a:prstGeom prst="rect">
            <a:avLst/>
          </a:prstGeom>
          <a:solidFill>
            <a:srgbClr val="1432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14538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" y="1737360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Normal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50876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224028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297180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3703320" y="1737360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1901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434840" y="1737360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190195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349240" y="1737360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No active security event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7543800" y="1737360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064"/>
                </a:solidFill>
              </a:rPr>
              <a:t>SAFE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9281160" y="1737360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1901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Disarmed / idle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621792" y="2313432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2478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Door while armed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150876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5448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224028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297180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3703320" y="2313432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0" y="24780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4434840" y="2313432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0560" y="24780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5349240" y="2313432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9496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Open door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7543800" y="2313432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2478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5B00"/>
                </a:solidFill>
              </a:rPr>
              <a:t>WARNING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9281160" y="2313432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Suspicious but not yet intrusion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621792" y="2889504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" y="3054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Door + motion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150876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4" name="Shape 62"/>
          <p:cNvSpPr/>
          <p:nvPr/>
        </p:nvSpPr>
        <p:spPr>
          <a:xfrm>
            <a:off x="224028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297180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3703320" y="2889504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30540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4434840" y="2889504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0560" y="305409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72" name="Shape 70"/>
          <p:cNvSpPr/>
          <p:nvPr/>
        </p:nvSpPr>
        <p:spPr>
          <a:xfrm>
            <a:off x="5349240" y="2889504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94960" y="30540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Open door + movement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7543800" y="2889504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054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C94747"/>
                </a:solidFill>
              </a:rPr>
              <a:t>INTRUSION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9281160" y="2889504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26880" y="30540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Stronger combined evidence</a:t>
            </a:r>
            <a:endParaRPr lang="en-US" sz="840" dirty="0"/>
          </a:p>
        </p:txBody>
      </p:sp>
      <p:sp>
        <p:nvSpPr>
          <p:cNvPr id="78" name="Shape 76"/>
          <p:cNvSpPr/>
          <p:nvPr/>
        </p:nvSpPr>
        <p:spPr>
          <a:xfrm>
            <a:off x="621792" y="3465576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7512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Forced entry</a:t>
            </a:r>
            <a:endParaRPr lang="en-US" sz="840" dirty="0"/>
          </a:p>
        </p:txBody>
      </p:sp>
      <p:sp>
        <p:nvSpPr>
          <p:cNvPr id="80" name="Shape 78"/>
          <p:cNvSpPr/>
          <p:nvPr/>
        </p:nvSpPr>
        <p:spPr>
          <a:xfrm>
            <a:off x="150876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5448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82" name="Shape 80"/>
          <p:cNvSpPr/>
          <p:nvPr/>
        </p:nvSpPr>
        <p:spPr>
          <a:xfrm>
            <a:off x="224028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8600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297180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01752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86" name="Shape 84"/>
          <p:cNvSpPr/>
          <p:nvPr/>
        </p:nvSpPr>
        <p:spPr>
          <a:xfrm>
            <a:off x="3703320" y="3465576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49040" y="36301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88" name="Shape 86"/>
          <p:cNvSpPr/>
          <p:nvPr/>
        </p:nvSpPr>
        <p:spPr>
          <a:xfrm>
            <a:off x="4434840" y="3465576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0560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90" name="Shape 88"/>
          <p:cNvSpPr/>
          <p:nvPr/>
        </p:nvSpPr>
        <p:spPr>
          <a:xfrm>
            <a:off x="5349240" y="3465576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94960" y="3630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Direct intrusion signal</a:t>
            </a:r>
            <a:endParaRPr lang="en-US" sz="840" dirty="0"/>
          </a:p>
        </p:txBody>
      </p:sp>
      <p:sp>
        <p:nvSpPr>
          <p:cNvPr id="92" name="Shape 90"/>
          <p:cNvSpPr/>
          <p:nvPr/>
        </p:nvSpPr>
        <p:spPr>
          <a:xfrm>
            <a:off x="7543800" y="3465576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89520" y="3630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C94747"/>
                </a:solidFill>
              </a:rPr>
              <a:t>INTRUSION</a:t>
            </a:r>
            <a:endParaRPr lang="en-US" sz="840" dirty="0"/>
          </a:p>
        </p:txBody>
      </p:sp>
      <p:sp>
        <p:nvSpPr>
          <p:cNvPr id="94" name="Shape 92"/>
          <p:cNvSpPr/>
          <p:nvPr/>
        </p:nvSpPr>
        <p:spPr>
          <a:xfrm>
            <a:off x="9281160" y="3465576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26880" y="3630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High-confidence trigger</a:t>
            </a:r>
            <a:endParaRPr lang="en-US" sz="840" dirty="0"/>
          </a:p>
        </p:txBody>
      </p:sp>
      <p:sp>
        <p:nvSpPr>
          <p:cNvPr id="96" name="Shape 94"/>
          <p:cNvSpPr/>
          <p:nvPr/>
        </p:nvSpPr>
        <p:spPr>
          <a:xfrm>
            <a:off x="621792" y="4041648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7512" y="4206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Heat</a:t>
            </a:r>
            <a:endParaRPr lang="en-US" sz="840" dirty="0"/>
          </a:p>
        </p:txBody>
      </p:sp>
      <p:sp>
        <p:nvSpPr>
          <p:cNvPr id="98" name="Shape 96"/>
          <p:cNvSpPr/>
          <p:nvPr/>
        </p:nvSpPr>
        <p:spPr>
          <a:xfrm>
            <a:off x="150876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55448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00" name="Shape 98"/>
          <p:cNvSpPr/>
          <p:nvPr/>
        </p:nvSpPr>
        <p:spPr>
          <a:xfrm>
            <a:off x="224028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8600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2" name="Shape 100"/>
          <p:cNvSpPr/>
          <p:nvPr/>
        </p:nvSpPr>
        <p:spPr>
          <a:xfrm>
            <a:off x="297180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4" name="Shape 102"/>
          <p:cNvSpPr/>
          <p:nvPr/>
        </p:nvSpPr>
        <p:spPr>
          <a:xfrm>
            <a:off x="3703320" y="4041648"/>
            <a:ext cx="731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49040" y="4206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06" name="Shape 104"/>
          <p:cNvSpPr/>
          <p:nvPr/>
        </p:nvSpPr>
        <p:spPr>
          <a:xfrm>
            <a:off x="4434840" y="4041648"/>
            <a:ext cx="868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480560" y="4206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08" name="Shape 106"/>
          <p:cNvSpPr/>
          <p:nvPr/>
        </p:nvSpPr>
        <p:spPr>
          <a:xfrm>
            <a:off x="5349240" y="4041648"/>
            <a:ext cx="20116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39496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Dangerous heat</a:t>
            </a:r>
            <a:endParaRPr lang="en-US" sz="840" dirty="0"/>
          </a:p>
        </p:txBody>
      </p:sp>
      <p:sp>
        <p:nvSpPr>
          <p:cNvPr id="110" name="Shape 108"/>
          <p:cNvSpPr/>
          <p:nvPr/>
        </p:nvSpPr>
        <p:spPr>
          <a:xfrm>
            <a:off x="7543800" y="4041648"/>
            <a:ext cx="16459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0" y="4206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D5F85"/>
                </a:solidFill>
              </a:rPr>
              <a:t>EMERGENCY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9281160" y="4041648"/>
            <a:ext cx="182880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326880" y="4206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Different threat category</a:t>
            </a:r>
            <a:endParaRPr lang="en-US" sz="840" dirty="0"/>
          </a:p>
        </p:txBody>
      </p:sp>
      <p:sp>
        <p:nvSpPr>
          <p:cNvPr id="114" name="Shape 112"/>
          <p:cNvSpPr/>
          <p:nvPr/>
        </p:nvSpPr>
        <p:spPr>
          <a:xfrm>
            <a:off x="621792" y="4617720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67512" y="4782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Disarmed activity</a:t>
            </a:r>
            <a:endParaRPr lang="en-US" sz="840" dirty="0"/>
          </a:p>
        </p:txBody>
      </p:sp>
      <p:sp>
        <p:nvSpPr>
          <p:cNvPr id="116" name="Shape 114"/>
          <p:cNvSpPr/>
          <p:nvPr/>
        </p:nvSpPr>
        <p:spPr>
          <a:xfrm>
            <a:off x="150876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55448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18" name="Shape 116"/>
          <p:cNvSpPr/>
          <p:nvPr/>
        </p:nvSpPr>
        <p:spPr>
          <a:xfrm>
            <a:off x="224028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28600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20" name="Shape 118"/>
          <p:cNvSpPr/>
          <p:nvPr/>
        </p:nvSpPr>
        <p:spPr>
          <a:xfrm>
            <a:off x="297180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1752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1</a:t>
            </a:r>
            <a:endParaRPr lang="en-US" sz="840" dirty="0"/>
          </a:p>
        </p:txBody>
      </p:sp>
      <p:sp>
        <p:nvSpPr>
          <p:cNvPr id="122" name="Shape 120"/>
          <p:cNvSpPr/>
          <p:nvPr/>
        </p:nvSpPr>
        <p:spPr>
          <a:xfrm>
            <a:off x="3703320" y="4617720"/>
            <a:ext cx="731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749040" y="47823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24" name="Shape 122"/>
          <p:cNvSpPr/>
          <p:nvPr/>
        </p:nvSpPr>
        <p:spPr>
          <a:xfrm>
            <a:off x="4434840" y="4617720"/>
            <a:ext cx="868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480560" y="4782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F2937"/>
                </a:solidFill>
              </a:rPr>
              <a:t>0</a:t>
            </a:r>
            <a:endParaRPr lang="en-US" sz="840" dirty="0"/>
          </a:p>
        </p:txBody>
      </p:sp>
      <p:sp>
        <p:nvSpPr>
          <p:cNvPr id="126" name="Shape 124"/>
          <p:cNvSpPr/>
          <p:nvPr/>
        </p:nvSpPr>
        <p:spPr>
          <a:xfrm>
            <a:off x="5349240" y="4617720"/>
            <a:ext cx="201168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394960" y="4782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Normal activity</a:t>
            </a:r>
            <a:endParaRPr lang="en-US" sz="840" dirty="0"/>
          </a:p>
        </p:txBody>
      </p:sp>
      <p:sp>
        <p:nvSpPr>
          <p:cNvPr id="128" name="Shape 126"/>
          <p:cNvSpPr/>
          <p:nvPr/>
        </p:nvSpPr>
        <p:spPr>
          <a:xfrm>
            <a:off x="7543800" y="4617720"/>
            <a:ext cx="16459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589520" y="4782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064"/>
                </a:solidFill>
              </a:rPr>
              <a:t>SAFE*</a:t>
            </a:r>
            <a:endParaRPr lang="en-US" sz="840" dirty="0"/>
          </a:p>
        </p:txBody>
      </p:sp>
      <p:sp>
        <p:nvSpPr>
          <p:cNvPr id="130" name="Shape 128"/>
          <p:cNvSpPr/>
          <p:nvPr/>
        </p:nvSpPr>
        <p:spPr>
          <a:xfrm>
            <a:off x="9281160" y="4617720"/>
            <a:ext cx="182880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D9E1E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326880" y="4782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F2937"/>
                </a:solidFill>
              </a:rPr>
              <a:t>Security response disabled</a:t>
            </a:r>
            <a:endParaRPr lang="en-US" sz="840" dirty="0"/>
          </a:p>
        </p:txBody>
      </p:sp>
      <p:sp>
        <p:nvSpPr>
          <p:cNvPr id="132" name="Text 130"/>
          <p:cNvSpPr/>
          <p:nvPr/>
        </p:nvSpPr>
        <p:spPr>
          <a:xfrm>
            <a:off x="658368" y="54406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667085"/>
                </a:solidFill>
              </a:rPr>
              <a:t>* Exact disarmed behavior follows the final truth table / logic implemented in the submitted circuit.</a:t>
            </a:r>
            <a:endParaRPr lang="en-US" sz="880" dirty="0"/>
          </a:p>
        </p:txBody>
      </p:sp>
      <p:sp>
        <p:nvSpPr>
          <p:cNvPr id="133" name="Shape 131"/>
          <p:cNvSpPr/>
          <p:nvPr/>
        </p:nvSpPr>
        <p:spPr>
          <a:xfrm>
            <a:off x="8759952" y="50749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759952" y="5074920"/>
            <a:ext cx="73152" cy="77724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961120" y="522122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Evidence to insert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8961120" y="5550408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Replace / supplement this slide with your actual Logisim screenshot and final truth table before submission.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658368" y="59070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D5F85"/>
                </a:solidFill>
              </a:rPr>
              <a:t>Discussion: the key result is not merely “alarm ON”; it is the distinction between different conditions using combined inputs.</a:t>
            </a:r>
            <a:endParaRPr lang="en-US" sz="1080" dirty="0"/>
          </a:p>
        </p:txBody>
      </p:sp>
      <p:sp>
        <p:nvSpPr>
          <p:cNvPr id="1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What the project achieves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281160" y="475488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54312" y="562356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4324A"/>
                </a:solidFill>
              </a:rPr>
              <a:t>We converted a real-world security problem into a deterministic digital decision system.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4944" y="2029968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168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2057400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 simple “any sensor → alarm” approach does not distinguish ordinary activity from stronger evidence of intrusion or a different emergency.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2788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8757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B00"/>
                </a:solidFill>
              </a:rPr>
              <a:t>What we changed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2816352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We introduced rule-based multi-condition classification using the armed state and several sensor signals.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4944" y="354787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9F5EF"/>
          </a:solidFill>
          <a:ln w="12700">
            <a:solidFill>
              <a:srgbClr val="E9F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63474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064"/>
                </a:solidFill>
              </a:rPr>
              <a:t>What we demonstrated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3575304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The rules can be represented with Boolean logic and implemented as a one-zone circuit in Logisim.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" y="430682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39369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4747"/>
                </a:solidFill>
              </a:rPr>
              <a:t>What it is not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4334256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It is not AI, machine learning, IoT, phone-connected automation, or a physical sensor system.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" y="5065776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515264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How it scales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5093208"/>
            <a:ext cx="9052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The same zone-level logic can be replicated and combined to form a larger multi-zone system.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" y="5870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24A"/>
                </a:solidFill>
              </a:rPr>
              <a:t>Core takeaway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58155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5F85"/>
                </a:solidFill>
              </a:rPr>
              <a:t>Inputs → conditions → situation → alarm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&amp; Submission Notes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Use these as background references; add course-specific sources used by your team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89720" y="47548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62872" y="56235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5F85"/>
                </a:solidFill>
              </a:rPr>
              <a:t>REFERENCES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71600"/>
            <a:ext cx="73152" cy="1920240"/>
          </a:xfrm>
          <a:prstGeom prst="rect">
            <a:avLst/>
          </a:prstGeom>
          <a:solidFill>
            <a:srgbClr val="1D5F85"/>
          </a:solidFill>
          <a:ln w="12700">
            <a:solidFill>
              <a:srgbClr val="1D5F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51790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Digital logic 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1847088"/>
            <a:ext cx="49834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1. M. Morris Mano &amp; Michael D. Ciletti, Digital Design: With an Introduction to the Verilog HDL.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2. Thomas L. Floyd, Digital Fundamentals.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Use your prescribed textbook / lecture notes as the primary academic source for Boolean logic, combinational circuits, and truth tables.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371600"/>
            <a:ext cx="73152" cy="1920240"/>
          </a:xfrm>
          <a:prstGeom prst="rect">
            <a:avLst/>
          </a:prstGeom>
          <a:solidFill>
            <a:srgbClr val="2BA8C6"/>
          </a:solidFill>
          <a:ln w="12700">
            <a:solidFill>
              <a:srgbClr val="2BA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1790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Security / sensor-combination background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47088"/>
            <a:ext cx="49834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Use introductory references on intrusion detection, alarm systems, and sensor fusion to motivate the design. Keep the literature discussion proportional to a first-year project; the main contribution is the circuit implementation.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657600"/>
            <a:ext cx="10835640" cy="1508760"/>
          </a:xfrm>
          <a:prstGeom prst="roundRect">
            <a:avLst>
              <a:gd name="adj" fmla="val 4848"/>
            </a:avLst>
          </a:prstGeom>
          <a:solidFill>
            <a:srgbClr val="FFF4D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657600"/>
            <a:ext cx="73152" cy="1508760"/>
          </a:xfrm>
          <a:prstGeom prst="rect">
            <a:avLst/>
          </a:prstGeom>
          <a:solidFill>
            <a:srgbClr val="E7A33E"/>
          </a:solidFill>
          <a:ln w="12700">
            <a:solidFill>
              <a:srgbClr val="E7A3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8039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4A"/>
                </a:solidFill>
              </a:rPr>
              <a:t>Before final submission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4133088"/>
            <a:ext cx="10515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Replace the name/roll-number placeholders. Insert your actual Logisim circuit screenshot. Replace the representative result table with the final verified test cases / truth table from your circuit. Ensure terminology exactly matches your implemented logic, especially the behavior when the system is disarmed.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5623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324A"/>
                </a:solidFill>
              </a:rPr>
              <a:t>Thank you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1322</Words>
  <Application>Microsoft Office PowerPoint</Application>
  <PresentationFormat>Widescreen</PresentationFormat>
  <Paragraphs>289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 Smart Home Security System</dc:title>
  <dc:subject>Digital Design and Circuit Analysis Project</dc:subject>
  <dc:creator>OpenAI</dc:creator>
  <cp:lastModifiedBy>Harsha Ravikanti</cp:lastModifiedBy>
  <cp:revision>2</cp:revision>
  <cp:lastPrinted>2026-09-11T19:49:06Z</cp:lastPrinted>
  <dcterms:created xsi:type="dcterms:W3CDTF">2026-09-11T19:16:35Z</dcterms:created>
  <dcterms:modified xsi:type="dcterms:W3CDTF">2026-09-11T19:49:51Z</dcterms:modified>
</cp:coreProperties>
</file>