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4" r:id="rId11"/>
    <p:sldId id="265" r:id="rId12"/>
    <p:sldId id="266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E29ED5-3FE7-48BF-B922-972C65774E35}" v="1" dt="2026-09-30T05:04:15.4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sha Ravikanti" userId="26586511d7813ca5" providerId="LiveId" clId="{391C5A84-63CB-4146-8D93-D7C4D94DE671}"/>
    <pc:docChg chg="addSld modSld sldOrd">
      <pc:chgData name="Harsha Ravikanti" userId="26586511d7813ca5" providerId="LiveId" clId="{391C5A84-63CB-4146-8D93-D7C4D94DE671}" dt="2026-09-30T05:06:27.599" v="23" actId="20577"/>
      <pc:docMkLst>
        <pc:docMk/>
      </pc:docMkLst>
      <pc:sldChg chg="modSp mod">
        <pc:chgData name="Harsha Ravikanti" userId="26586511d7813ca5" providerId="LiveId" clId="{391C5A84-63CB-4146-8D93-D7C4D94DE671}" dt="2026-09-30T05:06:27.599" v="23" actId="20577"/>
        <pc:sldMkLst>
          <pc:docMk/>
          <pc:sldMk cId="0" sldId="256"/>
        </pc:sldMkLst>
        <pc:spChg chg="mod">
          <ac:chgData name="Harsha Ravikanti" userId="26586511d7813ca5" providerId="LiveId" clId="{391C5A84-63CB-4146-8D93-D7C4D94DE671}" dt="2026-09-30T05:06:27.599" v="23" actId="20577"/>
          <ac:spMkLst>
            <pc:docMk/>
            <pc:sldMk cId="0" sldId="256"/>
            <ac:spMk id="15" creationId="{00000000-0000-0000-0000-000000000000}"/>
          </ac:spMkLst>
        </pc:spChg>
      </pc:sldChg>
      <pc:sldChg chg="add ord">
        <pc:chgData name="Harsha Ravikanti" userId="26586511d7813ca5" providerId="LiveId" clId="{391C5A84-63CB-4146-8D93-D7C4D94DE671}" dt="2026-09-30T05:04:23.428" v="13"/>
        <pc:sldMkLst>
          <pc:docMk/>
          <pc:sldMk cId="0" sldId="26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526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24A"/>
          </a:solidFill>
          <a:ln w="12700">
            <a:solidFill>
              <a:srgbClr val="1432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7395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180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DESIGN &amp; CIRCUIT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6473952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Home Security System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14324A"/>
          </a:solidFill>
          <a:ln w="12700">
            <a:solidFill>
              <a:srgbClr val="1432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777240"/>
            <a:ext cx="2651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DIGITAL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DESIGN &amp;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CIRCUIT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ANALYSIS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85216" y="2743200"/>
            <a:ext cx="2377440" cy="0"/>
          </a:xfrm>
          <a:prstGeom prst="line">
            <a:avLst/>
          </a:prstGeom>
          <a:noFill/>
          <a:ln w="31750">
            <a:solidFill>
              <a:srgbClr val="2BA8C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30632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D9EEF6"/>
                </a:solidFill>
              </a:rPr>
              <a:t>ONE-ZONE RULE-BASED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D9EEF6"/>
                </a:solidFill>
              </a:rPr>
              <a:t>SECURITY CLASSIFICATION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43400" y="1234440"/>
            <a:ext cx="6903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4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 and Simulation of a Smart Home Security System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370832" y="2423160"/>
            <a:ext cx="640080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A digital-logic-based approach to combining security sensor conditions and classifying situations as Safe, Warning, Intrusion, or Emergency.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70832" y="3657600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43984" y="3744468"/>
            <a:ext cx="1362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Logisim Simulation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16752" y="3657600"/>
            <a:ext cx="1691640" cy="347472"/>
          </a:xfrm>
          <a:prstGeom prst="roundRect">
            <a:avLst>
              <a:gd name="adj" fmla="val 21053"/>
            </a:avLst>
          </a:prstGeom>
          <a:solidFill>
            <a:srgbClr val="E9F5EF"/>
          </a:solidFill>
          <a:ln w="12700">
            <a:solidFill>
              <a:srgbClr val="E9F5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9904" y="3744468"/>
            <a:ext cx="1545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064"/>
                </a:solidFill>
              </a:rPr>
              <a:t>AND / OR / NOT Logic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845552" y="3657600"/>
            <a:ext cx="1691640" cy="347472"/>
          </a:xfrm>
          <a:prstGeom prst="roundRect">
            <a:avLst>
              <a:gd name="adj" fmla="val 21053"/>
            </a:avLst>
          </a:prstGeom>
          <a:solidFill>
            <a:srgbClr val="FFF4DF"/>
          </a:solidFill>
          <a:ln w="12700">
            <a:solidFill>
              <a:srgbClr val="FFF4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18704" y="3744468"/>
            <a:ext cx="1545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B00"/>
                </a:solidFill>
              </a:rPr>
              <a:t>Single Security Zone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89120" y="4617720"/>
            <a:ext cx="662940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300" dirty="0">
                <a:solidFill>
                  <a:srgbClr val="667085"/>
                </a:solidFill>
              </a:rPr>
              <a:t>Student Names &amp; Roll Numbers: [</a:t>
            </a:r>
            <a:r>
              <a:rPr lang="en-IN" sz="1400" dirty="0"/>
              <a:t>2620030388- Sai Sahasra</a:t>
            </a:r>
            <a:r>
              <a:rPr lang="en-US" sz="1300" dirty="0">
                <a:solidFill>
                  <a:srgbClr val="667085"/>
                </a:solidFill>
              </a:rPr>
              <a:t>]  |  [</a:t>
            </a:r>
            <a:r>
              <a:rPr lang="en-IN" sz="1400" dirty="0"/>
              <a:t>2620030386_Varshitha</a:t>
            </a:r>
            <a:r>
              <a:rPr lang="en-US" sz="1300" dirty="0">
                <a:solidFill>
                  <a:srgbClr val="667085"/>
                </a:solidFill>
              </a:rPr>
              <a:t>] | [</a:t>
            </a:r>
            <a:r>
              <a:rPr lang="en-IN" sz="1400" dirty="0"/>
              <a:t>2620030432_Harsha</a:t>
            </a:r>
            <a:r>
              <a:rPr lang="en-IN" sz="1400" dirty="0">
                <a:solidFill>
                  <a:srgbClr val="667085"/>
                </a:solidFill>
              </a:rPr>
              <a:t>]</a:t>
            </a:r>
          </a:p>
          <a:p>
            <a:endParaRPr lang="en-US" sz="1300" dirty="0"/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Introduction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05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Background, domain overview, and why the problem matters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829800" y="475488"/>
            <a:ext cx="164592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2952" y="562356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CONTEXT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371600"/>
            <a:ext cx="73152" cy="1828800"/>
          </a:xfrm>
          <a:prstGeom prst="rect">
            <a:avLst/>
          </a:prstGeom>
          <a:solidFill>
            <a:srgbClr val="2BA8C6"/>
          </a:solidFill>
          <a:ln w="12700">
            <a:solidFill>
              <a:srgbClr val="2BA8C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5179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The real-world setting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95528" y="1847088"/>
            <a:ext cx="310896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A home security zone contains several signals that describe what is happening: door status, motion, forced entry, heat, and whether the system is armed.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3716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1371600"/>
            <a:ext cx="73152" cy="1828800"/>
          </a:xfrm>
          <a:prstGeom prst="rect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0288" y="15179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The design challenge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1847088"/>
            <a:ext cx="310896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A sensor signal is often ambiguous by itself. The useful question is not just “did a sensor trigger?” but “what situation do these signals describe together?”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83880" y="13716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3880" y="1371600"/>
            <a:ext cx="73152" cy="1828800"/>
          </a:xfrm>
          <a:prstGeom prst="rect">
            <a:avLst/>
          </a:prstGeom>
          <a:solidFill>
            <a:srgbClr val="3B8064"/>
          </a:solidFill>
          <a:ln w="12700">
            <a:solidFill>
              <a:srgbClr val="3B80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5179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Our project focus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85048" y="1847088"/>
            <a:ext cx="310896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We implement a small, rule-based decision system in digital logic that turns a combination of binary inputs into a security classification and final alarm condition.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" y="37033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Think of the circuit as a tiny security decision-maker: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3434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4553712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324A"/>
                </a:solidFill>
              </a:rPr>
              <a:t>Sensors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148840" y="4663440"/>
            <a:ext cx="594360" cy="0"/>
          </a:xfrm>
          <a:prstGeom prst="line">
            <a:avLst/>
          </a:prstGeom>
          <a:noFill/>
          <a:ln w="2540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743200" y="43434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16352" y="4553712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324A"/>
                </a:solidFill>
              </a:rPr>
              <a:t>System state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60520" y="4663440"/>
            <a:ext cx="594360" cy="0"/>
          </a:xfrm>
          <a:prstGeom prst="line">
            <a:avLst/>
          </a:prstGeom>
          <a:noFill/>
          <a:ln w="2540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754880" y="43434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8032" y="4553712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324A"/>
                </a:solidFill>
              </a:rPr>
              <a:t>Conditions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72200" y="4663440"/>
            <a:ext cx="594360" cy="0"/>
          </a:xfrm>
          <a:prstGeom prst="line">
            <a:avLst/>
          </a:prstGeom>
          <a:noFill/>
          <a:ln w="2540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766560" y="43434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39712" y="4553712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324A"/>
                </a:solidFill>
              </a:rPr>
              <a:t>Situation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3880" y="4663440"/>
            <a:ext cx="594360" cy="0"/>
          </a:xfrm>
          <a:prstGeom prst="line">
            <a:avLst/>
          </a:prstGeom>
          <a:noFill/>
          <a:ln w="2540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778240" y="43434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14324A"/>
          </a:solidFill>
          <a:ln w="12700">
            <a:solidFill>
              <a:srgbClr val="1432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51392" y="4553712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Alarm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49808" y="53492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5F85"/>
                </a:solidFill>
              </a:rPr>
              <a:t>The “smart” part is the rule-based interpretation — not AI or machine learning.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Problem Statement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05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Why a simple sensor-to-alarm rule is not enough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921240" y="475488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94392" y="562356"/>
            <a:ext cx="1362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PROBLEM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1792" y="1389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Basic idea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1783080"/>
            <a:ext cx="3657600" cy="868680"/>
          </a:xfrm>
          <a:prstGeom prst="roundRect">
            <a:avLst>
              <a:gd name="adj" fmla="val 8421"/>
            </a:avLst>
          </a:prstGeom>
          <a:solidFill>
            <a:srgbClr val="FBEAEA"/>
          </a:solidFill>
          <a:ln w="12700">
            <a:solidFill>
              <a:srgbClr val="F0C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4747"/>
                </a:solidFill>
              </a:rPr>
              <a:t>Sensor triggered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C94747"/>
                </a:solidFill>
              </a:rPr>
              <a:t>→ immediate alarm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617720" y="1417320"/>
            <a:ext cx="6492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1417320"/>
            <a:ext cx="73152" cy="1737360"/>
          </a:xfrm>
          <a:prstGeom prst="rect">
            <a:avLst/>
          </a:prstGeom>
          <a:solidFill>
            <a:srgbClr val="C94747"/>
          </a:solidFill>
          <a:ln w="12700">
            <a:solidFill>
              <a:srgbClr val="C947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18888" y="1563624"/>
            <a:ext cx="6172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Why this can be limiting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18888" y="1892808"/>
            <a:ext cx="617220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• A door opening can be normal activity, not necessarily an intrusion.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• Motion alone does not always explain why the motion occurred.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• Forced entry and dangerous heat represent different kinds of threats.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• Treating every event identically loses useful context.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24A"/>
                </a:solidFill>
              </a:rPr>
              <a:t>What the project asks instead: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4096512"/>
            <a:ext cx="34290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096512"/>
            <a:ext cx="73152" cy="1554480"/>
          </a:xfrm>
          <a:prstGeom prst="rect">
            <a:avLst/>
          </a:prstGeom>
          <a:solidFill>
            <a:srgbClr val="2BA8C6"/>
          </a:solidFill>
          <a:ln w="12700">
            <a:solidFill>
              <a:srgbClr val="2BA8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42428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What happened?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9536" y="4572000"/>
            <a:ext cx="310896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Door / Motion / Forced Entry / Heat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07408" y="4096512"/>
            <a:ext cx="34290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07408" y="4096512"/>
            <a:ext cx="73152" cy="1554480"/>
          </a:xfrm>
          <a:prstGeom prst="rect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08576" y="42428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What is the system state?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608576" y="4572000"/>
            <a:ext cx="310896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Armed or Disarmed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56448" y="4096512"/>
            <a:ext cx="34290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56448" y="4096512"/>
            <a:ext cx="73152" cy="1554480"/>
          </a:xfrm>
          <a:prstGeom prst="rect">
            <a:avLst/>
          </a:prstGeom>
          <a:solidFill>
            <a:srgbClr val="3B8064"/>
          </a:solidFill>
          <a:ln w="12700">
            <a:solidFill>
              <a:srgbClr val="3B80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57616" y="42428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How serious is it?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57616" y="4572000"/>
            <a:ext cx="310896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Safe / Warning / Intrusion / Emergency</a:t>
            </a:r>
            <a:endParaRPr lang="en-US" sz="11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Objectives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05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Specific goals of the project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372600" y="475488"/>
            <a:ext cx="205740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45752" y="562356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OBJECTIVES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41732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00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A8C6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07592" y="16002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Model one security zone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075688"/>
            <a:ext cx="29718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</a:rPr>
              <a:t>Represent the armed state and four sensor inputs as binary signals.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16552" y="141732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600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A8C6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02352" y="16002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Classify situations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9432" y="2075688"/>
            <a:ext cx="29718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</a:rPr>
              <a:t>Distinguish Safe, Warning, Intrusion, and Emergency conditions.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11312" y="141732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1600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A8C6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97112" y="16002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Use multi-condition logic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94192" y="2075688"/>
            <a:ext cx="29718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</a:rPr>
              <a:t>Combine sensor states instead of treating every trigger identically.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" y="342900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3611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A8C6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07592" y="36118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Implement digitally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04672" y="4087368"/>
            <a:ext cx="29718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</a:rPr>
              <a:t>Translate the rules into Boolean logic and gates in Logisim.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416552" y="342900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99432" y="3611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A8C6"/>
                </a:solidFill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102352" y="36118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Validate behavior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99432" y="4087368"/>
            <a:ext cx="29718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</a:rPr>
              <a:t>Test representative combinations and verify the resulting outputs.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11312" y="342900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94192" y="3611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A8C6"/>
                </a:solidFill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97112" y="36118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Keep the design extensible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394192" y="4087368"/>
            <a:ext cx="29718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</a:rPr>
              <a:t>Show how the same zone logic could later be replicated for multiple zones.</a:t>
            </a:r>
            <a:endParaRPr lang="en-US" sz="105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Literature Survey / Existing System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05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Common approaches and the gap addressed by our design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281160" y="475488"/>
            <a:ext cx="205740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54312" y="562356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EXISTING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10927080" cy="502920"/>
          </a:xfrm>
          <a:prstGeom prst="roundRect">
            <a:avLst>
              <a:gd name="adj" fmla="val 7273"/>
            </a:avLst>
          </a:prstGeom>
          <a:solidFill>
            <a:srgbClr val="14324A"/>
          </a:solidFill>
          <a:ln w="12700">
            <a:solidFill>
              <a:srgbClr val="14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54533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Approach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154533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Basic idea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52360" y="154533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Limitation / observation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938528"/>
            <a:ext cx="1092708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8890">
            <a:solidFill>
              <a:srgbClr val="D9E1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1671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4324A"/>
                </a:solidFill>
              </a:rPr>
              <a:t>Conventional trigger-based alarm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49040" y="2139696"/>
            <a:ext cx="320040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</a:rPr>
              <a:t>Individual sensor activation can directly trigger an alarm.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52360" y="2139696"/>
            <a:ext cx="365760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</a:rPr>
              <a:t>Simple and easy to implement, but context is limited.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218688"/>
            <a:ext cx="10927080" cy="1051560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 w="8890">
            <a:solidFill>
              <a:srgbClr val="D9E1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44728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4324A"/>
                </a:solidFill>
              </a:rPr>
              <a:t>Zoned security systems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49040" y="3419856"/>
            <a:ext cx="320040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</a:rPr>
              <a:t>Sensors are grouped by protected areas and monitored by a control panel.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452360" y="3419856"/>
            <a:ext cx="365760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</a:rPr>
              <a:t>Better organization, but the decision rules may still be relatively simple.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498848"/>
            <a:ext cx="1092708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8890">
            <a:solidFill>
              <a:srgbClr val="D9E1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472744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4324A"/>
                </a:solidFill>
              </a:rPr>
              <a:t>Multi-sensor / sensor-fusion approaches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49040" y="4700016"/>
            <a:ext cx="320040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</a:rPr>
              <a:t>Several measurements are combined to improve situation awareness.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452360" y="4700016"/>
            <a:ext cx="365760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</a:rPr>
              <a:t>More informative, but often much more complex than a first-year logic circuit.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" y="5897880"/>
            <a:ext cx="10881360" cy="438912"/>
          </a:xfrm>
          <a:prstGeom prst="roundRect">
            <a:avLst>
              <a:gd name="adj" fmla="val 16667"/>
            </a:avLst>
          </a:prstGeom>
          <a:solidFill>
            <a:srgbClr val="EA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5897880"/>
            <a:ext cx="73152" cy="438912"/>
          </a:xfrm>
          <a:prstGeom prst="rect">
            <a:avLst/>
          </a:prstGeom>
          <a:solidFill>
            <a:srgbClr val="2BA8C6"/>
          </a:solidFill>
          <a:ln w="12700">
            <a:solidFill>
              <a:srgbClr val="2BA8C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" y="6044184"/>
            <a:ext cx="10561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Position of our project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59536" y="6373368"/>
            <a:ext cx="10561320" cy="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25000" lnSpcReduction="2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We are not claiming a new commercial security technology; we demonstrate a small, rule-based multi-condition classifier using digital logic.</a:t>
            </a:r>
            <a:endParaRPr lang="en-US" sz="11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Proposed System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05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From raw binary inputs to a meaningful security state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189720" y="475488"/>
            <a:ext cx="205740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62872" y="562356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PROPOSED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1325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Inputs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24231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9280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5F85"/>
                </a:solidFill>
              </a:rPr>
              <a:t>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1883664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Armed / Disarmed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2450592"/>
            <a:ext cx="24231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06040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5F85"/>
                </a:solidFill>
              </a:rPr>
              <a:t>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34440" y="2596896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Door Open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3163824"/>
            <a:ext cx="24231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31927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5F85"/>
                </a:solidFill>
              </a:rPr>
              <a:t>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34440" y="3310128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Motion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" y="3877056"/>
            <a:ext cx="24231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32504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5F85"/>
                </a:solidFill>
              </a:rPr>
              <a:t>F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34440" y="4023360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Forced Entry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" y="4590288"/>
            <a:ext cx="24231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74573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5F85"/>
                </a:solidFill>
              </a:rPr>
              <a:t>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34440" y="473659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Heat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0" y="1481328"/>
            <a:ext cx="3840480" cy="3246120"/>
          </a:xfrm>
          <a:prstGeom prst="roundRect">
            <a:avLst>
              <a:gd name="adj" fmla="val 2817"/>
            </a:avLst>
          </a:prstGeom>
          <a:solidFill>
            <a:srgbClr val="14324A"/>
          </a:solidFill>
          <a:ln w="12700">
            <a:solidFill>
              <a:srgbClr val="1432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0" y="193852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RULE-BASED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SECURITY LOGIC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096512" y="2880360"/>
            <a:ext cx="29260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DCE8EF"/>
                </a:solidFill>
              </a:rPr>
              <a:t>Combines armed state + sensor conditions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DCE8EF"/>
                </a:solidFill>
              </a:rPr>
              <a:t>to classify the current situation.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617720" y="3730752"/>
            <a:ext cx="187452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90872" y="3817620"/>
            <a:ext cx="17282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AND / OR / NOT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081528" y="2002536"/>
            <a:ext cx="576072" cy="0"/>
          </a:xfrm>
          <a:prstGeom prst="line">
            <a:avLst/>
          </a:prstGeom>
          <a:noFill/>
          <a:ln w="2032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081528" y="2715768"/>
            <a:ext cx="576072" cy="0"/>
          </a:xfrm>
          <a:prstGeom prst="line">
            <a:avLst/>
          </a:prstGeom>
          <a:noFill/>
          <a:ln w="2032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081528" y="3429000"/>
            <a:ext cx="576072" cy="0"/>
          </a:xfrm>
          <a:prstGeom prst="line">
            <a:avLst/>
          </a:prstGeom>
          <a:noFill/>
          <a:ln w="2032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081528" y="4142232"/>
            <a:ext cx="576072" cy="0"/>
          </a:xfrm>
          <a:prstGeom prst="line">
            <a:avLst/>
          </a:prstGeom>
          <a:noFill/>
          <a:ln w="2032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081528" y="4855464"/>
            <a:ext cx="576072" cy="0"/>
          </a:xfrm>
          <a:prstGeom prst="line">
            <a:avLst/>
          </a:prstGeom>
          <a:noFill/>
          <a:ln w="2032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001000" y="1216152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E9F5E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11312" y="13533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064"/>
                </a:solidFill>
              </a:rPr>
              <a:t>SAFE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491472" y="1344168"/>
            <a:ext cx="1691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1F2937"/>
                </a:solidFill>
              </a:rPr>
              <a:t>Routine / no active threat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7498080" y="1645920"/>
            <a:ext cx="502920" cy="0"/>
          </a:xfrm>
          <a:prstGeom prst="line">
            <a:avLst/>
          </a:prstGeom>
          <a:noFill/>
          <a:ln w="2032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001000" y="2359152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4D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11312" y="24963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A33E"/>
                </a:solidFill>
              </a:rPr>
              <a:t>WARNING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491472" y="2487168"/>
            <a:ext cx="1691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1F2937"/>
                </a:solidFill>
              </a:rPr>
              <a:t>Relevant event, not yet intrusion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7498080" y="2788920"/>
            <a:ext cx="502920" cy="0"/>
          </a:xfrm>
          <a:prstGeom prst="line">
            <a:avLst/>
          </a:prstGeom>
          <a:noFill/>
          <a:ln w="2032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001000" y="3502152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BEAEA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11312" y="36393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4747"/>
                </a:solidFill>
              </a:rPr>
              <a:t>INTRUSION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491472" y="3630168"/>
            <a:ext cx="1691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1F2937"/>
                </a:solidFill>
              </a:rPr>
              <a:t>Strong evidence of unauthorized entry</a:t>
            </a:r>
            <a:endParaRPr lang="en-US" sz="980" dirty="0"/>
          </a:p>
        </p:txBody>
      </p:sp>
      <p:sp>
        <p:nvSpPr>
          <p:cNvPr id="43" name="Shape 41"/>
          <p:cNvSpPr/>
          <p:nvPr/>
        </p:nvSpPr>
        <p:spPr>
          <a:xfrm>
            <a:off x="7498080" y="3931920"/>
            <a:ext cx="502920" cy="0"/>
          </a:xfrm>
          <a:prstGeom prst="line">
            <a:avLst/>
          </a:prstGeom>
          <a:noFill/>
          <a:ln w="2032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8001000" y="4645152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EA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11312" y="47823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24A"/>
                </a:solidFill>
              </a:rPr>
              <a:t>EMERGENCY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491472" y="4773168"/>
            <a:ext cx="1691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1F2937"/>
                </a:solidFill>
              </a:rPr>
              <a:t>Heat-related emergency condition</a:t>
            </a:r>
            <a:endParaRPr lang="en-US" sz="980" dirty="0"/>
          </a:p>
        </p:txBody>
      </p:sp>
      <p:sp>
        <p:nvSpPr>
          <p:cNvPr id="47" name="Shape 45"/>
          <p:cNvSpPr/>
          <p:nvPr/>
        </p:nvSpPr>
        <p:spPr>
          <a:xfrm>
            <a:off x="7498080" y="5074920"/>
            <a:ext cx="502920" cy="0"/>
          </a:xfrm>
          <a:prstGeom prst="line">
            <a:avLst/>
          </a:prstGeom>
          <a:noFill/>
          <a:ln w="2032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8183880" y="5806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67085"/>
                </a:solidFill>
              </a:rPr>
              <a:t>Final alarm condition is derived from the applicable higher-severity security state.</a:t>
            </a:r>
            <a:endParaRPr lang="en-US" sz="105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System Architecture / Block Diagram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05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Signal flow for one security zone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052560" y="475488"/>
            <a:ext cx="219456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25712" y="562356"/>
            <a:ext cx="2048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ARCHITECTURE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Zone Inputs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8379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D5F85"/>
                </a:solidFill>
              </a:rPr>
              <a:t>ARMED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682496" y="1856232"/>
            <a:ext cx="960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System state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816352" y="2020824"/>
            <a:ext cx="886968" cy="1636776"/>
          </a:xfrm>
          <a:prstGeom prst="line">
            <a:avLst/>
          </a:prstGeom>
          <a:noFill/>
          <a:ln w="1651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58368" y="2514600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261518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2BA8C6"/>
                </a:solidFill>
              </a:rPr>
              <a:t>DOOR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82496" y="2633472"/>
            <a:ext cx="960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Door sensor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816352" y="2798064"/>
            <a:ext cx="886968" cy="859536"/>
          </a:xfrm>
          <a:prstGeom prst="line">
            <a:avLst/>
          </a:prstGeom>
          <a:noFill/>
          <a:ln w="1651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58368" y="3291840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3924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2BA8C6"/>
                </a:solidFill>
              </a:rPr>
              <a:t>MOTION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82496" y="3410712"/>
            <a:ext cx="960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Motion sensor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816352" y="3575304"/>
            <a:ext cx="886968" cy="82296"/>
          </a:xfrm>
          <a:prstGeom prst="line">
            <a:avLst/>
          </a:prstGeom>
          <a:noFill/>
          <a:ln w="1651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58368" y="4069080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41696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C94747"/>
                </a:solidFill>
              </a:rPr>
              <a:t>FORCED ENTRY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682496" y="4187952"/>
            <a:ext cx="960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Intrusion sensor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816352" y="4352544"/>
            <a:ext cx="886968" cy="0"/>
          </a:xfrm>
          <a:prstGeom prst="line">
            <a:avLst/>
          </a:prstGeom>
          <a:noFill/>
          <a:ln w="1651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58368" y="4846320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494690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E7A33E"/>
                </a:solidFill>
              </a:rPr>
              <a:t>HEAT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682496" y="4965192"/>
            <a:ext cx="960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Heat sensor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816352" y="5129784"/>
            <a:ext cx="886968" cy="0"/>
          </a:xfrm>
          <a:prstGeom prst="line">
            <a:avLst/>
          </a:prstGeom>
          <a:noFill/>
          <a:ln w="1651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703320" y="1920240"/>
            <a:ext cx="365760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6510">
            <a:solidFill>
              <a:srgbClr val="D9E1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87368" y="221284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324A"/>
                </a:solidFill>
              </a:rPr>
              <a:t>Condition &amp; State Logic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4114800" y="2788920"/>
            <a:ext cx="2834640" cy="393192"/>
          </a:xfrm>
          <a:prstGeom prst="roundRect">
            <a:avLst>
              <a:gd name="adj" fmla="val 9302"/>
            </a:avLst>
          </a:prstGeom>
          <a:solidFill>
            <a:srgbClr val="FFF4D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24528" y="2889504"/>
            <a:ext cx="10789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8B5B00"/>
                </a:solidFill>
              </a:rPr>
              <a:t>Warning path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5248656" y="2880360"/>
            <a:ext cx="1554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1F2937"/>
                </a:solidFill>
              </a:rPr>
              <a:t>Armed + Door Open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114800" y="3346704"/>
            <a:ext cx="2834640" cy="393192"/>
          </a:xfrm>
          <a:prstGeom prst="roundRect">
            <a:avLst>
              <a:gd name="adj" fmla="val 9302"/>
            </a:avLst>
          </a:prstGeom>
          <a:solidFill>
            <a:srgbClr val="FBEAEA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24528" y="3447288"/>
            <a:ext cx="10789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C94747"/>
                </a:solidFill>
              </a:rPr>
              <a:t>Intrusion path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5248656" y="3438144"/>
            <a:ext cx="1554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1F2937"/>
                </a:solidFill>
              </a:rPr>
              <a:t>Armed + Door + Motion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4114800" y="3904488"/>
            <a:ext cx="2834640" cy="393192"/>
          </a:xfrm>
          <a:prstGeom prst="roundRect">
            <a:avLst>
              <a:gd name="adj" fmla="val 9302"/>
            </a:avLst>
          </a:prstGeom>
          <a:solidFill>
            <a:srgbClr val="FBEAEA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24528" y="4005072"/>
            <a:ext cx="10789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C94747"/>
                </a:solidFill>
              </a:rPr>
              <a:t>Intrusion path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5248656" y="3995928"/>
            <a:ext cx="1554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1F2937"/>
                </a:solidFill>
              </a:rPr>
              <a:t>Forced Entry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4114800" y="4462272"/>
            <a:ext cx="2834640" cy="393192"/>
          </a:xfrm>
          <a:prstGeom prst="roundRect">
            <a:avLst>
              <a:gd name="adj" fmla="val 9302"/>
            </a:avLst>
          </a:prstGeom>
          <a:solidFill>
            <a:srgbClr val="EA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24528" y="4562856"/>
            <a:ext cx="10789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D5F85"/>
                </a:solidFill>
              </a:rPr>
              <a:t>Emergency path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5248656" y="4553712"/>
            <a:ext cx="1554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1F2937"/>
                </a:solidFill>
              </a:rPr>
              <a:t>Heat condition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4096512" y="4572000"/>
            <a:ext cx="28346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085"/>
                </a:solidFill>
              </a:rPr>
              <a:t>Boolean gates implement the conditions above; the classification logic then feeds the alarm output.</a:t>
            </a:r>
            <a:endParaRPr lang="en-US" sz="1020" dirty="0"/>
          </a:p>
        </p:txBody>
      </p:sp>
      <p:sp>
        <p:nvSpPr>
          <p:cNvPr id="42" name="Shape 40"/>
          <p:cNvSpPr/>
          <p:nvPr/>
        </p:nvSpPr>
        <p:spPr>
          <a:xfrm>
            <a:off x="8412480" y="1965960"/>
            <a:ext cx="2788920" cy="640080"/>
          </a:xfrm>
          <a:prstGeom prst="roundRect">
            <a:avLst>
              <a:gd name="adj" fmla="val 8571"/>
            </a:avLst>
          </a:prstGeom>
          <a:solidFill>
            <a:srgbClr val="E9F5E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41080" y="216712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064"/>
                </a:solidFill>
              </a:rPr>
              <a:t>SAFE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21824" y="2176272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667085"/>
                </a:solidFill>
              </a:rPr>
              <a:t>State output</a:t>
            </a:r>
            <a:endParaRPr lang="en-US" sz="870" dirty="0"/>
          </a:p>
        </p:txBody>
      </p:sp>
      <p:sp>
        <p:nvSpPr>
          <p:cNvPr id="45" name="Shape 43"/>
          <p:cNvSpPr/>
          <p:nvPr/>
        </p:nvSpPr>
        <p:spPr>
          <a:xfrm>
            <a:off x="7360920" y="2286000"/>
            <a:ext cx="1051560" cy="0"/>
          </a:xfrm>
          <a:prstGeom prst="line">
            <a:avLst/>
          </a:prstGeom>
          <a:noFill/>
          <a:ln w="2032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412480" y="2907792"/>
            <a:ext cx="2788920" cy="640080"/>
          </a:xfrm>
          <a:prstGeom prst="roundRect">
            <a:avLst>
              <a:gd name="adj" fmla="val 8571"/>
            </a:avLst>
          </a:prstGeom>
          <a:solidFill>
            <a:srgbClr val="FFF4D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641080" y="31089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B00"/>
                </a:solidFill>
              </a:rPr>
              <a:t>WARNING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21824" y="3118104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667085"/>
                </a:solidFill>
              </a:rPr>
              <a:t>State output</a:t>
            </a:r>
            <a:endParaRPr lang="en-US" sz="870" dirty="0"/>
          </a:p>
        </p:txBody>
      </p:sp>
      <p:sp>
        <p:nvSpPr>
          <p:cNvPr id="49" name="Shape 47"/>
          <p:cNvSpPr/>
          <p:nvPr/>
        </p:nvSpPr>
        <p:spPr>
          <a:xfrm>
            <a:off x="7360920" y="3227832"/>
            <a:ext cx="1051560" cy="0"/>
          </a:xfrm>
          <a:prstGeom prst="line">
            <a:avLst/>
          </a:prstGeom>
          <a:noFill/>
          <a:ln w="2032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412480" y="3849624"/>
            <a:ext cx="2788920" cy="640080"/>
          </a:xfrm>
          <a:prstGeom prst="roundRect">
            <a:avLst>
              <a:gd name="adj" fmla="val 8571"/>
            </a:avLst>
          </a:prstGeom>
          <a:solidFill>
            <a:srgbClr val="FBEAEA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641080" y="40507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4747"/>
                </a:solidFill>
              </a:rPr>
              <a:t>INTRUSION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0021824" y="4059936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667085"/>
                </a:solidFill>
              </a:rPr>
              <a:t>State output</a:t>
            </a:r>
            <a:endParaRPr lang="en-US" sz="870" dirty="0"/>
          </a:p>
        </p:txBody>
      </p:sp>
      <p:sp>
        <p:nvSpPr>
          <p:cNvPr id="53" name="Shape 51"/>
          <p:cNvSpPr/>
          <p:nvPr/>
        </p:nvSpPr>
        <p:spPr>
          <a:xfrm>
            <a:off x="7360920" y="4169664"/>
            <a:ext cx="1051560" cy="0"/>
          </a:xfrm>
          <a:prstGeom prst="line">
            <a:avLst/>
          </a:prstGeom>
          <a:noFill/>
          <a:ln w="2032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8412480" y="4791456"/>
            <a:ext cx="2788920" cy="640080"/>
          </a:xfrm>
          <a:prstGeom prst="roundRect">
            <a:avLst>
              <a:gd name="adj" fmla="val 8571"/>
            </a:avLst>
          </a:prstGeom>
          <a:solidFill>
            <a:srgbClr val="EA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641080" y="499262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5F85"/>
                </a:solidFill>
              </a:rPr>
              <a:t>EMERGENCY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10021824" y="500176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667085"/>
                </a:solidFill>
              </a:rPr>
              <a:t>State output</a:t>
            </a:r>
            <a:endParaRPr lang="en-US" sz="870" dirty="0"/>
          </a:p>
        </p:txBody>
      </p:sp>
      <p:sp>
        <p:nvSpPr>
          <p:cNvPr id="57" name="Shape 55"/>
          <p:cNvSpPr/>
          <p:nvPr/>
        </p:nvSpPr>
        <p:spPr>
          <a:xfrm>
            <a:off x="7360920" y="5111496"/>
            <a:ext cx="1051560" cy="0"/>
          </a:xfrm>
          <a:prstGeom prst="line">
            <a:avLst/>
          </a:prstGeom>
          <a:noFill/>
          <a:ln w="20320">
            <a:solidFill>
              <a:srgbClr val="1D5F85"/>
            </a:solidFill>
            <a:prstDash val="solid"/>
            <a:headEnd type="none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8732520" y="5669280"/>
            <a:ext cx="2194560" cy="475488"/>
          </a:xfrm>
          <a:prstGeom prst="roundRect">
            <a:avLst>
              <a:gd name="adj" fmla="val 9615"/>
            </a:avLst>
          </a:prstGeom>
          <a:solidFill>
            <a:srgbClr val="14324A"/>
          </a:solidFill>
          <a:ln w="12700">
            <a:solidFill>
              <a:srgbClr val="1432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815584"/>
            <a:ext cx="1874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FINAL ALARM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848088" y="5431536"/>
            <a:ext cx="0" cy="237744"/>
          </a:xfrm>
          <a:prstGeom prst="line">
            <a:avLst/>
          </a:prstGeom>
          <a:noFill/>
          <a:ln w="19050">
            <a:solidFill>
              <a:srgbClr val="14324A"/>
            </a:solidFill>
            <a:prstDash val="solid"/>
            <a:headEnd type="none"/>
            <a:tailEnd type="triangle"/>
          </a:ln>
        </p:spPr>
      </p:sp>
      <p:sp>
        <p:nvSpPr>
          <p:cNvPr id="6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 Methodology / Implementation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05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How the real-world requirement becomes a digital circuit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646920" y="475488"/>
            <a:ext cx="164592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20072" y="562356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METHOD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58368" y="1307592"/>
            <a:ext cx="393192" cy="393192"/>
          </a:xfrm>
          <a:prstGeom prst="ellipse">
            <a:avLst/>
          </a:prstGeom>
          <a:solidFill>
            <a:srgbClr val="14324A"/>
          </a:solidFill>
          <a:ln w="12700">
            <a:solidFill>
              <a:srgbClr val="14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408176"/>
            <a:ext cx="3931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261872" y="13075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24A"/>
                </a:solidFill>
              </a:rPr>
              <a:t>Define inputs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703320" y="1298448"/>
            <a:ext cx="722376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Armed, Door, Motion, Forced Entry, Heat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59536" y="1709928"/>
            <a:ext cx="0" cy="356616"/>
          </a:xfrm>
          <a:prstGeom prst="line">
            <a:avLst/>
          </a:prstGeom>
          <a:noFill/>
          <a:ln w="17780">
            <a:solidFill>
              <a:srgbClr val="D9E1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057400"/>
            <a:ext cx="393192" cy="393192"/>
          </a:xfrm>
          <a:prstGeom prst="ellipse">
            <a:avLst/>
          </a:prstGeom>
          <a:solidFill>
            <a:srgbClr val="14324A"/>
          </a:solidFill>
          <a:ln w="12700">
            <a:solidFill>
              <a:srgbClr val="1432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157984"/>
            <a:ext cx="3931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61872" y="20574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24A"/>
                </a:solidFill>
              </a:rPr>
              <a:t>Define states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703320" y="2048256"/>
            <a:ext cx="722376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Safe, Warning, Intrusion, Emergency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9536" y="2459736"/>
            <a:ext cx="0" cy="356616"/>
          </a:xfrm>
          <a:prstGeom prst="line">
            <a:avLst/>
          </a:prstGeom>
          <a:noFill/>
          <a:ln w="17780">
            <a:solidFill>
              <a:srgbClr val="D9E1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807208"/>
            <a:ext cx="393192" cy="393192"/>
          </a:xfrm>
          <a:prstGeom prst="ellipse">
            <a:avLst/>
          </a:prstGeom>
          <a:solidFill>
            <a:srgbClr val="14324A"/>
          </a:solidFill>
          <a:ln w="12700">
            <a:solidFill>
              <a:srgbClr val="1432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07792"/>
            <a:ext cx="3931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61872" y="28072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24A"/>
                </a:solidFill>
              </a:rPr>
              <a:t>Write rules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703320" y="2798064"/>
            <a:ext cx="722376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Describe which input combinations correspond to each state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59536" y="3209544"/>
            <a:ext cx="0" cy="356616"/>
          </a:xfrm>
          <a:prstGeom prst="line">
            <a:avLst/>
          </a:prstGeom>
          <a:noFill/>
          <a:ln w="17780">
            <a:solidFill>
              <a:srgbClr val="D9E1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3557016"/>
            <a:ext cx="393192" cy="393192"/>
          </a:xfrm>
          <a:prstGeom prst="ellipse">
            <a:avLst/>
          </a:prstGeom>
          <a:solidFill>
            <a:srgbClr val="14324A"/>
          </a:solidFill>
          <a:ln w="12700">
            <a:solidFill>
              <a:srgbClr val="1432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657600"/>
            <a:ext cx="3931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61872" y="35570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24A"/>
                </a:solidFill>
              </a:rPr>
              <a:t>Translate to Boolean logic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703320" y="3547872"/>
            <a:ext cx="722376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Use AND, OR, and NOT to implement the rules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9536" y="3959352"/>
            <a:ext cx="0" cy="356616"/>
          </a:xfrm>
          <a:prstGeom prst="line">
            <a:avLst/>
          </a:prstGeom>
          <a:noFill/>
          <a:ln w="17780">
            <a:solidFill>
              <a:srgbClr val="D9E1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" y="4306824"/>
            <a:ext cx="393192" cy="393192"/>
          </a:xfrm>
          <a:prstGeom prst="ellipse">
            <a:avLst/>
          </a:prstGeom>
          <a:solidFill>
            <a:srgbClr val="14324A"/>
          </a:solidFill>
          <a:ln w="12700">
            <a:solidFill>
              <a:srgbClr val="1432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4407408"/>
            <a:ext cx="3931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61872" y="43068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24A"/>
                </a:solidFill>
              </a:rPr>
              <a:t>Build in Logisim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703320" y="4297680"/>
            <a:ext cx="722376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Connect gates and outputs for one security zone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59536" y="4709160"/>
            <a:ext cx="0" cy="356616"/>
          </a:xfrm>
          <a:prstGeom prst="line">
            <a:avLst/>
          </a:prstGeom>
          <a:noFill/>
          <a:ln w="17780">
            <a:solidFill>
              <a:srgbClr val="D9E1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368" y="5056632"/>
            <a:ext cx="393192" cy="393192"/>
          </a:xfrm>
          <a:prstGeom prst="ellipse">
            <a:avLst/>
          </a:prstGeom>
          <a:solidFill>
            <a:srgbClr val="14324A"/>
          </a:solidFill>
          <a:ln w="12700">
            <a:solidFill>
              <a:srgbClr val="1432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5157216"/>
            <a:ext cx="3931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261872" y="505663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24A"/>
                </a:solidFill>
              </a:rPr>
              <a:t>Test combinations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3703320" y="5047488"/>
            <a:ext cx="722376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Verify representative scenarios and edge cases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67512" y="5815584"/>
            <a:ext cx="10835640" cy="438912"/>
          </a:xfrm>
          <a:prstGeom prst="roundRect">
            <a:avLst>
              <a:gd name="adj" fmla="val 16667"/>
            </a:avLst>
          </a:prstGeom>
          <a:solidFill>
            <a:srgbClr val="EAF3F8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7512" y="5815584"/>
            <a:ext cx="73152" cy="438912"/>
          </a:xfrm>
          <a:prstGeom prst="rect">
            <a:avLst/>
          </a:prstGeom>
          <a:solidFill>
            <a:srgbClr val="2BA8C6"/>
          </a:solidFill>
          <a:ln w="12700">
            <a:solidFill>
              <a:srgbClr val="2BA8C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8680" y="5961888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Key principle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68680" y="6291072"/>
            <a:ext cx="10515600" cy="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25000" lnSpcReduction="2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The circuit is deterministic: the same input combination always produces the same classification.</a:t>
            </a:r>
            <a:endParaRPr lang="en-US" sz="11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9. Logisim Circuit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05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Final one-zone security circuit built in Logisim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646920" y="475488"/>
            <a:ext cx="164592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20072" y="562356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CIRCUIT</a:t>
            </a:r>
            <a:endParaRPr lang="en-US" sz="900" dirty="0"/>
          </a:p>
        </p:txBody>
      </p:sp>
      <p:sp>
        <p:nvSpPr>
          <p:cNvPr id="101" name="Card"/>
          <p:cNvSpPr/>
          <p:nvPr/>
        </p:nvSpPr>
        <p:spPr>
          <a:xfrm>
            <a:off x="658368" y="1350000"/>
            <a:ext cx="10875264" cy="4950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A"/>
            </a:solidFill>
          </a:ln>
        </p:spPr>
      </p:sp>
      <p:pic>
        <p:nvPicPr>
          <p:cNvPr id="102" name="Logisim circuit" descr="Logisim smart home security circui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450" y="1450000"/>
            <a:ext cx="8653100" cy="4750000"/>
          </a:xfrm>
          <a:prstGeom prst="rect">
            <a:avLst/>
          </a:prstGeom>
        </p:spPr>
      </p:pic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9. Results and Discussion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05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Representative test cases and expected circuit behavior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582912" y="475488"/>
            <a:ext cx="169164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56064" y="562356"/>
            <a:ext cx="1545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RESULTS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325880"/>
            <a:ext cx="868680" cy="411480"/>
          </a:xfrm>
          <a:prstGeom prst="rect">
            <a:avLst/>
          </a:prstGeom>
          <a:solidFill>
            <a:srgbClr val="1432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453896"/>
            <a:ext cx="795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Case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508760" y="1325880"/>
            <a:ext cx="731520" cy="411480"/>
          </a:xfrm>
          <a:prstGeom prst="rect">
            <a:avLst/>
          </a:prstGeom>
          <a:solidFill>
            <a:srgbClr val="1432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45336" y="1453896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240280" y="1325880"/>
            <a:ext cx="731520" cy="411480"/>
          </a:xfrm>
          <a:prstGeom prst="rect">
            <a:avLst/>
          </a:prstGeom>
          <a:solidFill>
            <a:srgbClr val="1432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76856" y="1453896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971800" y="1325880"/>
            <a:ext cx="731520" cy="411480"/>
          </a:xfrm>
          <a:prstGeom prst="rect">
            <a:avLst/>
          </a:prstGeom>
          <a:solidFill>
            <a:srgbClr val="1432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8376" y="1453896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703320" y="1325880"/>
            <a:ext cx="731520" cy="411480"/>
          </a:xfrm>
          <a:prstGeom prst="rect">
            <a:avLst/>
          </a:prstGeom>
          <a:solidFill>
            <a:srgbClr val="1432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39896" y="1453896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F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34840" y="1325880"/>
            <a:ext cx="868680" cy="411480"/>
          </a:xfrm>
          <a:prstGeom prst="rect">
            <a:avLst/>
          </a:prstGeom>
          <a:solidFill>
            <a:srgbClr val="1432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71416" y="1453896"/>
            <a:ext cx="795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349240" y="1325880"/>
            <a:ext cx="2011680" cy="411480"/>
          </a:xfrm>
          <a:prstGeom prst="rect">
            <a:avLst/>
          </a:prstGeom>
          <a:solidFill>
            <a:srgbClr val="1432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85816" y="1453896"/>
            <a:ext cx="1938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Situation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543800" y="1325880"/>
            <a:ext cx="1645920" cy="411480"/>
          </a:xfrm>
          <a:prstGeom prst="rect">
            <a:avLst/>
          </a:prstGeom>
          <a:solidFill>
            <a:srgbClr val="1432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0376" y="1453896"/>
            <a:ext cx="15727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Expected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281160" y="1325880"/>
            <a:ext cx="1828800" cy="411480"/>
          </a:xfrm>
          <a:prstGeom prst="rect">
            <a:avLst/>
          </a:prstGeom>
          <a:solidFill>
            <a:srgbClr val="1432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17736" y="1453896"/>
            <a:ext cx="17556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Comment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21792" y="1737360"/>
            <a:ext cx="86868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1901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Normal</a:t>
            </a:r>
            <a:endParaRPr lang="en-US" sz="840" dirty="0"/>
          </a:p>
        </p:txBody>
      </p:sp>
      <p:sp>
        <p:nvSpPr>
          <p:cNvPr id="26" name="Shape 24"/>
          <p:cNvSpPr/>
          <p:nvPr/>
        </p:nvSpPr>
        <p:spPr>
          <a:xfrm>
            <a:off x="1508760" y="1737360"/>
            <a:ext cx="7315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54480" y="190195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2240280" y="1737360"/>
            <a:ext cx="7315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0" y="190195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30" name="Shape 28"/>
          <p:cNvSpPr/>
          <p:nvPr/>
        </p:nvSpPr>
        <p:spPr>
          <a:xfrm>
            <a:off x="2971800" y="1737360"/>
            <a:ext cx="7315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17520" y="190195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32" name="Shape 30"/>
          <p:cNvSpPr/>
          <p:nvPr/>
        </p:nvSpPr>
        <p:spPr>
          <a:xfrm>
            <a:off x="3703320" y="1737360"/>
            <a:ext cx="7315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49040" y="190195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4434840" y="1737360"/>
            <a:ext cx="86868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1901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36" name="Shape 34"/>
          <p:cNvSpPr/>
          <p:nvPr/>
        </p:nvSpPr>
        <p:spPr>
          <a:xfrm>
            <a:off x="5349240" y="1737360"/>
            <a:ext cx="201168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94960" y="19019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No active security event</a:t>
            </a:r>
            <a:endParaRPr lang="en-US" sz="840" dirty="0"/>
          </a:p>
        </p:txBody>
      </p:sp>
      <p:sp>
        <p:nvSpPr>
          <p:cNvPr id="38" name="Shape 36"/>
          <p:cNvSpPr/>
          <p:nvPr/>
        </p:nvSpPr>
        <p:spPr>
          <a:xfrm>
            <a:off x="7543800" y="1737360"/>
            <a:ext cx="16459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19019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3B8064"/>
                </a:solidFill>
              </a:rPr>
              <a:t>SAFE</a:t>
            </a:r>
            <a:endParaRPr lang="en-US" sz="840" dirty="0"/>
          </a:p>
        </p:txBody>
      </p:sp>
      <p:sp>
        <p:nvSpPr>
          <p:cNvPr id="40" name="Shape 38"/>
          <p:cNvSpPr/>
          <p:nvPr/>
        </p:nvSpPr>
        <p:spPr>
          <a:xfrm>
            <a:off x="9281160" y="1737360"/>
            <a:ext cx="182880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26880" y="19019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Disarmed / idle</a:t>
            </a:r>
            <a:endParaRPr lang="en-US" sz="840" dirty="0"/>
          </a:p>
        </p:txBody>
      </p:sp>
      <p:sp>
        <p:nvSpPr>
          <p:cNvPr id="42" name="Shape 40"/>
          <p:cNvSpPr/>
          <p:nvPr/>
        </p:nvSpPr>
        <p:spPr>
          <a:xfrm>
            <a:off x="621792" y="2313432"/>
            <a:ext cx="86868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7512" y="2478024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Door while armed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1508760" y="2313432"/>
            <a:ext cx="7315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554480" y="24780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1</a:t>
            </a:r>
            <a:endParaRPr lang="en-US" sz="840" dirty="0"/>
          </a:p>
        </p:txBody>
      </p:sp>
      <p:sp>
        <p:nvSpPr>
          <p:cNvPr id="46" name="Shape 44"/>
          <p:cNvSpPr/>
          <p:nvPr/>
        </p:nvSpPr>
        <p:spPr>
          <a:xfrm>
            <a:off x="2240280" y="2313432"/>
            <a:ext cx="7315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86000" y="24780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1</a:t>
            </a:r>
            <a:endParaRPr lang="en-US" sz="840" dirty="0"/>
          </a:p>
        </p:txBody>
      </p:sp>
      <p:sp>
        <p:nvSpPr>
          <p:cNvPr id="48" name="Shape 46"/>
          <p:cNvSpPr/>
          <p:nvPr/>
        </p:nvSpPr>
        <p:spPr>
          <a:xfrm>
            <a:off x="2971800" y="2313432"/>
            <a:ext cx="7315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17520" y="24780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50" name="Shape 48"/>
          <p:cNvSpPr/>
          <p:nvPr/>
        </p:nvSpPr>
        <p:spPr>
          <a:xfrm>
            <a:off x="3703320" y="2313432"/>
            <a:ext cx="7315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749040" y="24780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4434840" y="2313432"/>
            <a:ext cx="86868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80560" y="2478024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54" name="Shape 52"/>
          <p:cNvSpPr/>
          <p:nvPr/>
        </p:nvSpPr>
        <p:spPr>
          <a:xfrm>
            <a:off x="5349240" y="2313432"/>
            <a:ext cx="201168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9496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Open door</a:t>
            </a:r>
            <a:endParaRPr lang="en-US" sz="840" dirty="0"/>
          </a:p>
        </p:txBody>
      </p:sp>
      <p:sp>
        <p:nvSpPr>
          <p:cNvPr id="56" name="Shape 54"/>
          <p:cNvSpPr/>
          <p:nvPr/>
        </p:nvSpPr>
        <p:spPr>
          <a:xfrm>
            <a:off x="7543800" y="2313432"/>
            <a:ext cx="16459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589520" y="247802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8B5B00"/>
                </a:solidFill>
              </a:rPr>
              <a:t>WARNING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9281160" y="2313432"/>
            <a:ext cx="182880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326880" y="247802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Suspicious but not yet intrusion</a:t>
            </a:r>
            <a:endParaRPr lang="en-US" sz="840" dirty="0"/>
          </a:p>
        </p:txBody>
      </p:sp>
      <p:sp>
        <p:nvSpPr>
          <p:cNvPr id="60" name="Shape 58"/>
          <p:cNvSpPr/>
          <p:nvPr/>
        </p:nvSpPr>
        <p:spPr>
          <a:xfrm>
            <a:off x="621792" y="2889504"/>
            <a:ext cx="86868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67512" y="3054096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Door + motion</a:t>
            </a:r>
            <a:endParaRPr lang="en-US" sz="840" dirty="0"/>
          </a:p>
        </p:txBody>
      </p:sp>
      <p:sp>
        <p:nvSpPr>
          <p:cNvPr id="62" name="Shape 60"/>
          <p:cNvSpPr/>
          <p:nvPr/>
        </p:nvSpPr>
        <p:spPr>
          <a:xfrm>
            <a:off x="1508760" y="2889504"/>
            <a:ext cx="7315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554480" y="305409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1</a:t>
            </a:r>
            <a:endParaRPr lang="en-US" sz="840" dirty="0"/>
          </a:p>
        </p:txBody>
      </p:sp>
      <p:sp>
        <p:nvSpPr>
          <p:cNvPr id="64" name="Shape 62"/>
          <p:cNvSpPr/>
          <p:nvPr/>
        </p:nvSpPr>
        <p:spPr>
          <a:xfrm>
            <a:off x="2240280" y="2889504"/>
            <a:ext cx="7315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286000" y="305409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1</a:t>
            </a:r>
            <a:endParaRPr lang="en-US" sz="840" dirty="0"/>
          </a:p>
        </p:txBody>
      </p:sp>
      <p:sp>
        <p:nvSpPr>
          <p:cNvPr id="66" name="Shape 64"/>
          <p:cNvSpPr/>
          <p:nvPr/>
        </p:nvSpPr>
        <p:spPr>
          <a:xfrm>
            <a:off x="2971800" y="2889504"/>
            <a:ext cx="7315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017520" y="305409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1</a:t>
            </a:r>
            <a:endParaRPr lang="en-US" sz="840" dirty="0"/>
          </a:p>
        </p:txBody>
      </p:sp>
      <p:sp>
        <p:nvSpPr>
          <p:cNvPr id="68" name="Shape 66"/>
          <p:cNvSpPr/>
          <p:nvPr/>
        </p:nvSpPr>
        <p:spPr>
          <a:xfrm>
            <a:off x="3703320" y="2889504"/>
            <a:ext cx="7315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49040" y="305409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70" name="Shape 68"/>
          <p:cNvSpPr/>
          <p:nvPr/>
        </p:nvSpPr>
        <p:spPr>
          <a:xfrm>
            <a:off x="4434840" y="2889504"/>
            <a:ext cx="86868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480560" y="3054096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72" name="Shape 70"/>
          <p:cNvSpPr/>
          <p:nvPr/>
        </p:nvSpPr>
        <p:spPr>
          <a:xfrm>
            <a:off x="5349240" y="2889504"/>
            <a:ext cx="201168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394960" y="30540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Open door + movement</a:t>
            </a:r>
            <a:endParaRPr lang="en-US" sz="840" dirty="0"/>
          </a:p>
        </p:txBody>
      </p:sp>
      <p:sp>
        <p:nvSpPr>
          <p:cNvPr id="74" name="Shape 72"/>
          <p:cNvSpPr/>
          <p:nvPr/>
        </p:nvSpPr>
        <p:spPr>
          <a:xfrm>
            <a:off x="7543800" y="2889504"/>
            <a:ext cx="16459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589520" y="305409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C94747"/>
                </a:solidFill>
              </a:rPr>
              <a:t>INTRUSION</a:t>
            </a:r>
            <a:endParaRPr lang="en-US" sz="840" dirty="0"/>
          </a:p>
        </p:txBody>
      </p:sp>
      <p:sp>
        <p:nvSpPr>
          <p:cNvPr id="76" name="Shape 74"/>
          <p:cNvSpPr/>
          <p:nvPr/>
        </p:nvSpPr>
        <p:spPr>
          <a:xfrm>
            <a:off x="9281160" y="2889504"/>
            <a:ext cx="182880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326880" y="305409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Stronger combined evidence</a:t>
            </a:r>
            <a:endParaRPr lang="en-US" sz="840" dirty="0"/>
          </a:p>
        </p:txBody>
      </p:sp>
      <p:sp>
        <p:nvSpPr>
          <p:cNvPr id="78" name="Shape 76"/>
          <p:cNvSpPr/>
          <p:nvPr/>
        </p:nvSpPr>
        <p:spPr>
          <a:xfrm>
            <a:off x="621792" y="3465576"/>
            <a:ext cx="86868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67512" y="36301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Forced entry</a:t>
            </a:r>
            <a:endParaRPr lang="en-US" sz="840" dirty="0"/>
          </a:p>
        </p:txBody>
      </p:sp>
      <p:sp>
        <p:nvSpPr>
          <p:cNvPr id="80" name="Shape 78"/>
          <p:cNvSpPr/>
          <p:nvPr/>
        </p:nvSpPr>
        <p:spPr>
          <a:xfrm>
            <a:off x="1508760" y="3465576"/>
            <a:ext cx="7315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554480" y="36301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1</a:t>
            </a:r>
            <a:endParaRPr lang="en-US" sz="840" dirty="0"/>
          </a:p>
        </p:txBody>
      </p:sp>
      <p:sp>
        <p:nvSpPr>
          <p:cNvPr id="82" name="Shape 80"/>
          <p:cNvSpPr/>
          <p:nvPr/>
        </p:nvSpPr>
        <p:spPr>
          <a:xfrm>
            <a:off x="2240280" y="3465576"/>
            <a:ext cx="7315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286000" y="36301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84" name="Shape 82"/>
          <p:cNvSpPr/>
          <p:nvPr/>
        </p:nvSpPr>
        <p:spPr>
          <a:xfrm>
            <a:off x="2971800" y="3465576"/>
            <a:ext cx="7315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017520" y="36301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86" name="Shape 84"/>
          <p:cNvSpPr/>
          <p:nvPr/>
        </p:nvSpPr>
        <p:spPr>
          <a:xfrm>
            <a:off x="3703320" y="3465576"/>
            <a:ext cx="7315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749040" y="36301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1</a:t>
            </a:r>
            <a:endParaRPr lang="en-US" sz="840" dirty="0"/>
          </a:p>
        </p:txBody>
      </p:sp>
      <p:sp>
        <p:nvSpPr>
          <p:cNvPr id="88" name="Shape 86"/>
          <p:cNvSpPr/>
          <p:nvPr/>
        </p:nvSpPr>
        <p:spPr>
          <a:xfrm>
            <a:off x="4434840" y="3465576"/>
            <a:ext cx="86868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480560" y="36301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90" name="Shape 88"/>
          <p:cNvSpPr/>
          <p:nvPr/>
        </p:nvSpPr>
        <p:spPr>
          <a:xfrm>
            <a:off x="5349240" y="3465576"/>
            <a:ext cx="201168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394960" y="36301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Direct intrusion signal</a:t>
            </a:r>
            <a:endParaRPr lang="en-US" sz="840" dirty="0"/>
          </a:p>
        </p:txBody>
      </p:sp>
      <p:sp>
        <p:nvSpPr>
          <p:cNvPr id="92" name="Shape 90"/>
          <p:cNvSpPr/>
          <p:nvPr/>
        </p:nvSpPr>
        <p:spPr>
          <a:xfrm>
            <a:off x="7543800" y="3465576"/>
            <a:ext cx="16459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589520" y="36301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C94747"/>
                </a:solidFill>
              </a:rPr>
              <a:t>INTRUSION</a:t>
            </a:r>
            <a:endParaRPr lang="en-US" sz="840" dirty="0"/>
          </a:p>
        </p:txBody>
      </p:sp>
      <p:sp>
        <p:nvSpPr>
          <p:cNvPr id="94" name="Shape 92"/>
          <p:cNvSpPr/>
          <p:nvPr/>
        </p:nvSpPr>
        <p:spPr>
          <a:xfrm>
            <a:off x="9281160" y="3465576"/>
            <a:ext cx="182880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326880" y="363016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High-confidence trigger</a:t>
            </a:r>
            <a:endParaRPr lang="en-US" sz="840" dirty="0"/>
          </a:p>
        </p:txBody>
      </p:sp>
      <p:sp>
        <p:nvSpPr>
          <p:cNvPr id="96" name="Shape 94"/>
          <p:cNvSpPr/>
          <p:nvPr/>
        </p:nvSpPr>
        <p:spPr>
          <a:xfrm>
            <a:off x="621792" y="4041648"/>
            <a:ext cx="86868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667512" y="42062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Heat</a:t>
            </a:r>
            <a:endParaRPr lang="en-US" sz="840" dirty="0"/>
          </a:p>
        </p:txBody>
      </p:sp>
      <p:sp>
        <p:nvSpPr>
          <p:cNvPr id="98" name="Shape 96"/>
          <p:cNvSpPr/>
          <p:nvPr/>
        </p:nvSpPr>
        <p:spPr>
          <a:xfrm>
            <a:off x="1508760" y="4041648"/>
            <a:ext cx="7315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554480" y="420624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1</a:t>
            </a:r>
            <a:endParaRPr lang="en-US" sz="840" dirty="0"/>
          </a:p>
        </p:txBody>
      </p:sp>
      <p:sp>
        <p:nvSpPr>
          <p:cNvPr id="100" name="Shape 98"/>
          <p:cNvSpPr/>
          <p:nvPr/>
        </p:nvSpPr>
        <p:spPr>
          <a:xfrm>
            <a:off x="2240280" y="4041648"/>
            <a:ext cx="7315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286000" y="420624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102" name="Shape 100"/>
          <p:cNvSpPr/>
          <p:nvPr/>
        </p:nvSpPr>
        <p:spPr>
          <a:xfrm>
            <a:off x="2971800" y="4041648"/>
            <a:ext cx="7315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017520" y="420624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104" name="Shape 102"/>
          <p:cNvSpPr/>
          <p:nvPr/>
        </p:nvSpPr>
        <p:spPr>
          <a:xfrm>
            <a:off x="3703320" y="4041648"/>
            <a:ext cx="7315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749040" y="420624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106" name="Shape 104"/>
          <p:cNvSpPr/>
          <p:nvPr/>
        </p:nvSpPr>
        <p:spPr>
          <a:xfrm>
            <a:off x="4434840" y="4041648"/>
            <a:ext cx="86868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480560" y="42062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1</a:t>
            </a:r>
            <a:endParaRPr lang="en-US" sz="840" dirty="0"/>
          </a:p>
        </p:txBody>
      </p:sp>
      <p:sp>
        <p:nvSpPr>
          <p:cNvPr id="108" name="Shape 106"/>
          <p:cNvSpPr/>
          <p:nvPr/>
        </p:nvSpPr>
        <p:spPr>
          <a:xfrm>
            <a:off x="5349240" y="4041648"/>
            <a:ext cx="201168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394960" y="42062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Dangerous heat</a:t>
            </a:r>
            <a:endParaRPr lang="en-US" sz="840" dirty="0"/>
          </a:p>
        </p:txBody>
      </p:sp>
      <p:sp>
        <p:nvSpPr>
          <p:cNvPr id="110" name="Shape 108"/>
          <p:cNvSpPr/>
          <p:nvPr/>
        </p:nvSpPr>
        <p:spPr>
          <a:xfrm>
            <a:off x="7543800" y="4041648"/>
            <a:ext cx="164592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589520" y="42062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1D5F85"/>
                </a:solidFill>
              </a:rPr>
              <a:t>EMERGENCY</a:t>
            </a:r>
            <a:endParaRPr lang="en-US" sz="840" dirty="0"/>
          </a:p>
        </p:txBody>
      </p:sp>
      <p:sp>
        <p:nvSpPr>
          <p:cNvPr id="112" name="Shape 110"/>
          <p:cNvSpPr/>
          <p:nvPr/>
        </p:nvSpPr>
        <p:spPr>
          <a:xfrm>
            <a:off x="9281160" y="4041648"/>
            <a:ext cx="1828800" cy="576072"/>
          </a:xfrm>
          <a:prstGeom prst="rect">
            <a:avLst/>
          </a:prstGeom>
          <a:solidFill>
            <a:srgbClr val="FFFFFF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9326880" y="42062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Different threat category</a:t>
            </a:r>
            <a:endParaRPr lang="en-US" sz="840" dirty="0"/>
          </a:p>
        </p:txBody>
      </p:sp>
      <p:sp>
        <p:nvSpPr>
          <p:cNvPr id="114" name="Shape 112"/>
          <p:cNvSpPr/>
          <p:nvPr/>
        </p:nvSpPr>
        <p:spPr>
          <a:xfrm>
            <a:off x="621792" y="4617720"/>
            <a:ext cx="86868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67512" y="478231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Disarmed activity</a:t>
            </a:r>
            <a:endParaRPr lang="en-US" sz="840" dirty="0"/>
          </a:p>
        </p:txBody>
      </p:sp>
      <p:sp>
        <p:nvSpPr>
          <p:cNvPr id="116" name="Shape 114"/>
          <p:cNvSpPr/>
          <p:nvPr/>
        </p:nvSpPr>
        <p:spPr>
          <a:xfrm>
            <a:off x="1508760" y="4617720"/>
            <a:ext cx="7315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554480" y="478231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118" name="Shape 116"/>
          <p:cNvSpPr/>
          <p:nvPr/>
        </p:nvSpPr>
        <p:spPr>
          <a:xfrm>
            <a:off x="2240280" y="4617720"/>
            <a:ext cx="7315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286000" y="478231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1</a:t>
            </a:r>
            <a:endParaRPr lang="en-US" sz="840" dirty="0"/>
          </a:p>
        </p:txBody>
      </p:sp>
      <p:sp>
        <p:nvSpPr>
          <p:cNvPr id="120" name="Shape 118"/>
          <p:cNvSpPr/>
          <p:nvPr/>
        </p:nvSpPr>
        <p:spPr>
          <a:xfrm>
            <a:off x="2971800" y="4617720"/>
            <a:ext cx="7315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017520" y="478231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1</a:t>
            </a:r>
            <a:endParaRPr lang="en-US" sz="840" dirty="0"/>
          </a:p>
        </p:txBody>
      </p:sp>
      <p:sp>
        <p:nvSpPr>
          <p:cNvPr id="122" name="Shape 120"/>
          <p:cNvSpPr/>
          <p:nvPr/>
        </p:nvSpPr>
        <p:spPr>
          <a:xfrm>
            <a:off x="3703320" y="4617720"/>
            <a:ext cx="7315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749040" y="478231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124" name="Shape 122"/>
          <p:cNvSpPr/>
          <p:nvPr/>
        </p:nvSpPr>
        <p:spPr>
          <a:xfrm>
            <a:off x="4434840" y="4617720"/>
            <a:ext cx="86868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480560" y="478231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1F2937"/>
                </a:solidFill>
              </a:rPr>
              <a:t>0</a:t>
            </a:r>
            <a:endParaRPr lang="en-US" sz="840" dirty="0"/>
          </a:p>
        </p:txBody>
      </p:sp>
      <p:sp>
        <p:nvSpPr>
          <p:cNvPr id="126" name="Shape 124"/>
          <p:cNvSpPr/>
          <p:nvPr/>
        </p:nvSpPr>
        <p:spPr>
          <a:xfrm>
            <a:off x="5349240" y="4617720"/>
            <a:ext cx="201168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394960" y="478231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Normal activity</a:t>
            </a:r>
            <a:endParaRPr lang="en-US" sz="840" dirty="0"/>
          </a:p>
        </p:txBody>
      </p:sp>
      <p:sp>
        <p:nvSpPr>
          <p:cNvPr id="128" name="Shape 126"/>
          <p:cNvSpPr/>
          <p:nvPr/>
        </p:nvSpPr>
        <p:spPr>
          <a:xfrm>
            <a:off x="7543800" y="4617720"/>
            <a:ext cx="164592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7589520" y="478231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3B8064"/>
                </a:solidFill>
              </a:rPr>
              <a:t>SAFE*</a:t>
            </a:r>
            <a:endParaRPr lang="en-US" sz="840" dirty="0"/>
          </a:p>
        </p:txBody>
      </p:sp>
      <p:sp>
        <p:nvSpPr>
          <p:cNvPr id="130" name="Shape 128"/>
          <p:cNvSpPr/>
          <p:nvPr/>
        </p:nvSpPr>
        <p:spPr>
          <a:xfrm>
            <a:off x="9281160" y="4617720"/>
            <a:ext cx="1828800" cy="576072"/>
          </a:xfrm>
          <a:prstGeom prst="rect">
            <a:avLst/>
          </a:prstGeom>
          <a:solidFill>
            <a:srgbClr val="F8FAFC"/>
          </a:solidFill>
          <a:ln w="5715">
            <a:solidFill>
              <a:srgbClr val="D9E1EA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9326880" y="4782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F2937"/>
                </a:solidFill>
              </a:rPr>
              <a:t>Security response disabled</a:t>
            </a:r>
            <a:endParaRPr lang="en-US" sz="840" dirty="0"/>
          </a:p>
        </p:txBody>
      </p:sp>
      <p:sp>
        <p:nvSpPr>
          <p:cNvPr id="132" name="Text 130"/>
          <p:cNvSpPr/>
          <p:nvPr/>
        </p:nvSpPr>
        <p:spPr>
          <a:xfrm>
            <a:off x="658368" y="54406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i="1" dirty="0">
                <a:solidFill>
                  <a:srgbClr val="667085"/>
                </a:solidFill>
              </a:rPr>
              <a:t>* Exact disarmed behavior follows the final truth table / logic implemented in the submitted circuit.</a:t>
            </a:r>
            <a:endParaRPr lang="en-US" sz="880" dirty="0"/>
          </a:p>
        </p:txBody>
      </p:sp>
      <p:sp>
        <p:nvSpPr>
          <p:cNvPr id="133" name="Shape 131"/>
          <p:cNvSpPr/>
          <p:nvPr/>
        </p:nvSpPr>
        <p:spPr>
          <a:xfrm>
            <a:off x="8759952" y="50749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4D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759952" y="5074920"/>
            <a:ext cx="73152" cy="777240"/>
          </a:xfrm>
          <a:prstGeom prst="rect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8961120" y="5221224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Evidence to insert</a:t>
            </a:r>
            <a:endParaRPr lang="en-US" sz="1400" dirty="0"/>
          </a:p>
        </p:txBody>
      </p:sp>
      <p:sp>
        <p:nvSpPr>
          <p:cNvPr id="136" name="Text 134"/>
          <p:cNvSpPr/>
          <p:nvPr/>
        </p:nvSpPr>
        <p:spPr>
          <a:xfrm>
            <a:off x="8961120" y="5550408"/>
            <a:ext cx="242316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62500" lnSpcReduction="2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Replace / supplement this slide with your actual Logisim screenshot and final truth table before submission.</a:t>
            </a:r>
            <a:endParaRPr lang="en-US" sz="1100" dirty="0"/>
          </a:p>
        </p:txBody>
      </p:sp>
      <p:sp>
        <p:nvSpPr>
          <p:cNvPr id="137" name="Text 135"/>
          <p:cNvSpPr/>
          <p:nvPr/>
        </p:nvSpPr>
        <p:spPr>
          <a:xfrm>
            <a:off x="658368" y="590702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D5F85"/>
                </a:solidFill>
              </a:rPr>
              <a:t>Discussion: the key result is not merely “alarm ON”; it is the distinction between different conditions using combined inputs.</a:t>
            </a:r>
            <a:endParaRPr lang="en-US" sz="1080" dirty="0"/>
          </a:p>
        </p:txBody>
      </p:sp>
      <p:sp>
        <p:nvSpPr>
          <p:cNvPr id="1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10. Conclusion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05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What the project achieves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281160" y="475488"/>
            <a:ext cx="196596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54312" y="562356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CONCLUSION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4324A"/>
                </a:solidFill>
              </a:rPr>
              <a:t>We converted a real-world security problem into a deterministic digital decision system.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94944" y="2029968"/>
            <a:ext cx="141732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116836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Problem addressed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331720" y="2057400"/>
            <a:ext cx="905256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A simple “any sensor → alarm” approach does not distinguish ordinary activity from stronger evidence of intrusion or a different emergency.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94944" y="2788920"/>
            <a:ext cx="1417320" cy="347472"/>
          </a:xfrm>
          <a:prstGeom prst="roundRect">
            <a:avLst>
              <a:gd name="adj" fmla="val 21053"/>
            </a:avLst>
          </a:prstGeom>
          <a:solidFill>
            <a:srgbClr val="FFF4DF"/>
          </a:solidFill>
          <a:ln w="12700">
            <a:solidFill>
              <a:srgbClr val="FFF4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2875788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B00"/>
                </a:solidFill>
              </a:rPr>
              <a:t>What we changed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31720" y="2816352"/>
            <a:ext cx="905256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We introduced rule-based multi-condition classification using the armed state and several sensor signals.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4944" y="3547872"/>
            <a:ext cx="1417320" cy="347472"/>
          </a:xfrm>
          <a:prstGeom prst="roundRect">
            <a:avLst>
              <a:gd name="adj" fmla="val 21053"/>
            </a:avLst>
          </a:prstGeom>
          <a:solidFill>
            <a:srgbClr val="E9F5EF"/>
          </a:solidFill>
          <a:ln w="12700">
            <a:solidFill>
              <a:srgbClr val="E9F5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63474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064"/>
                </a:solidFill>
              </a:rPr>
              <a:t>What we demonstrated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331720" y="3575304"/>
            <a:ext cx="905256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The rules can be represented with Boolean logic and implemented as a one-zone circuit in Logisim.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94944" y="4306824"/>
            <a:ext cx="1417320" cy="347472"/>
          </a:xfrm>
          <a:prstGeom prst="roundRect">
            <a:avLst>
              <a:gd name="adj" fmla="val 21053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4393692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94747"/>
                </a:solidFill>
              </a:rPr>
              <a:t>What it is not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31720" y="4334256"/>
            <a:ext cx="905256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It is not AI, machine learning, IoT, phone-connected automation, or a physical sensor system.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4944" y="5065776"/>
            <a:ext cx="141732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5152644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How it scales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31720" y="5093208"/>
            <a:ext cx="905256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The same zone-level logic can be replicated and combined to form a larger multi-zone system.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04088" y="58704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24A"/>
                </a:solidFill>
              </a:rPr>
              <a:t>Core takeaway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331720" y="5815584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5F85"/>
                </a:solidFill>
              </a:rPr>
              <a:t>Inputs → conditions → situation → alarm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 &amp; Submission Notes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05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Use these as background references; add course-specific sources used by your team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189720" y="475488"/>
            <a:ext cx="2057400" cy="347472"/>
          </a:xfrm>
          <a:prstGeom prst="roundRect">
            <a:avLst>
              <a:gd name="adj" fmla="val 21053"/>
            </a:avLst>
          </a:prstGeom>
          <a:solidFill>
            <a:srgbClr val="EAF3F8"/>
          </a:solidFill>
          <a:ln w="12700">
            <a:solidFill>
              <a:srgbClr val="EAF3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62872" y="562356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5F85"/>
                </a:solidFill>
              </a:rPr>
              <a:t>REFERENCES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58368" y="137160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71600"/>
            <a:ext cx="73152" cy="1920240"/>
          </a:xfrm>
          <a:prstGeom prst="rect">
            <a:avLst/>
          </a:prstGeom>
          <a:solidFill>
            <a:srgbClr val="1D5F85"/>
          </a:solidFill>
          <a:ln w="12700">
            <a:solidFill>
              <a:srgbClr val="1D5F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517904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Digital logic foundations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9536" y="1847088"/>
            <a:ext cx="498348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1. M. Morris Mano &amp; Michael D. Ciletti, Digital Design: With an Introduction to the Verilog HDL.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2. Thomas L. Floyd, Digital Fundamentals.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Use your prescribed textbook / lecture notes as the primary academic source for Boolean logic, combinational circuits, and truth tables.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9632" y="137160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9632" y="1371600"/>
            <a:ext cx="73152" cy="1920240"/>
          </a:xfrm>
          <a:prstGeom prst="rect">
            <a:avLst/>
          </a:prstGeom>
          <a:solidFill>
            <a:srgbClr val="2BA8C6"/>
          </a:solidFill>
          <a:ln w="12700">
            <a:solidFill>
              <a:srgbClr val="2BA8C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517904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Security / sensor-combination background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1847088"/>
            <a:ext cx="498348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Use introductory references on intrusion detection, alarm systems, and sensor fusion to motivate the design. Keep the literature discussion proportional to a first-year project; the main contribution is the circuit implementation.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10835640" cy="1508760"/>
          </a:xfrm>
          <a:prstGeom prst="roundRect">
            <a:avLst>
              <a:gd name="adj" fmla="val 4848"/>
            </a:avLst>
          </a:prstGeom>
          <a:solidFill>
            <a:srgbClr val="FFF4D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657600"/>
            <a:ext cx="73152" cy="1508760"/>
          </a:xfrm>
          <a:prstGeom prst="rect">
            <a:avLst/>
          </a:prstGeom>
          <a:solidFill>
            <a:srgbClr val="E7A33E"/>
          </a:solidFill>
          <a:ln w="12700">
            <a:solidFill>
              <a:srgbClr val="E7A3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3803904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24A"/>
                </a:solidFill>
              </a:rPr>
              <a:t>Before final submission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9536" y="4133088"/>
            <a:ext cx="105156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</a:rPr>
              <a:t>Replace the name/roll-number placeholders. Insert your actual Logisim circuit screenshot. Replace the representative result table with the final verified test cases / truth table from your circuit. Ensure terminology exactly matches your implemented logic, especially the behavior when the system is disarmed.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43400" y="5623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324A"/>
                </a:solidFill>
              </a:rPr>
              <a:t>Thank you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1335</Words>
  <Application>Microsoft Office PowerPoint</Application>
  <PresentationFormat>Widescreen</PresentationFormat>
  <Paragraphs>293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Academic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and Simulation of a Smart Home Security System</dc:title>
  <dc:subject>Digital Design and Circuit Analysis Project</dc:subject>
  <dc:creator>OpenAI</dc:creator>
  <cp:lastModifiedBy>Harsha Ravikanti</cp:lastModifiedBy>
  <cp:revision>2</cp:revision>
  <cp:lastPrinted>2026-09-11T19:49:06Z</cp:lastPrinted>
  <dcterms:created xsi:type="dcterms:W3CDTF">2026-09-11T19:16:35Z</dcterms:created>
  <dcterms:modified xsi:type="dcterms:W3CDTF">2026-09-30T05:06:34Z</dcterms:modified>
</cp:coreProperties>
</file>